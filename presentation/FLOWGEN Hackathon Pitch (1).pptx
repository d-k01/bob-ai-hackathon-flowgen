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IBM Plex Sans Bold" charset="1" panose="020B0803050203000203"/>
      <p:regular r:id="rId18"/>
    </p:embeddedFont>
    <p:embeddedFont>
      <p:font typeface="Montserrat Bold" charset="1" panose="00000800000000000000"/>
      <p:regular r:id="rId19"/>
    </p:embeddedFont>
    <p:embeddedFont>
      <p:font typeface="IBM Plex Sans" charset="1" panose="020B05030502030002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0477500" cy="10287000"/>
            <a:chOff x="0" y="0"/>
            <a:chExt cx="13970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970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3970000">
                  <a:moveTo>
                    <a:pt x="0" y="0"/>
                  </a:moveTo>
                  <a:lnTo>
                    <a:pt x="13970000" y="0"/>
                  </a:lnTo>
                  <a:lnTo>
                    <a:pt x="13970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6101F">
                <a:alpha val="81961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970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1114425"/>
            <a:ext cx="571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10" b="true">
                <a:solidFill>
                  <a:srgbClr val="20E0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IBM BOB AI HACKATHON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2714625"/>
            <a:ext cx="10001250" cy="1360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95"/>
              </a:lnSpc>
            </a:pPr>
            <a:r>
              <a:rPr lang="en-US" sz="9900" b="true">
                <a:solidFill>
                  <a:srgbClr val="F4FB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FLOWGEN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4400" y="4000500"/>
            <a:ext cx="1714500" cy="66675"/>
            <a:chOff x="0" y="0"/>
            <a:chExt cx="2286000" cy="889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86000" cy="88900"/>
            </a:xfrm>
            <a:custGeom>
              <a:avLst/>
              <a:gdLst/>
              <a:ahLst/>
              <a:cxnLst/>
              <a:rect r="r" b="b" t="t" l="l"/>
              <a:pathLst>
                <a:path h="889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20E0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86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4400" y="4152900"/>
            <a:ext cx="7810500" cy="1320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5"/>
              </a:lnSpc>
            </a:pPr>
            <a:r>
              <a:rPr lang="en-US" sz="4050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AI-powered protection</a:t>
            </a:r>
          </a:p>
          <a:p>
            <a:pPr algn="l">
              <a:lnSpc>
                <a:spcPts val="5265"/>
              </a:lnSpc>
            </a:pPr>
            <a:r>
              <a:rPr lang="en-US" sz="4050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 every drop.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8829675"/>
            <a:ext cx="8572500" cy="240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spc="199" b="true">
                <a:solidFill>
                  <a:srgbClr val="20E0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SENSOR DATA  →  AI  →  INTELLIGENCE  →  ACTION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96250" y="0"/>
            <a:ext cx="10191750" cy="10287000"/>
          </a:xfrm>
          <a:custGeom>
            <a:avLst/>
            <a:gdLst/>
            <a:ahLst/>
            <a:cxnLst/>
            <a:rect r="r" b="b" t="t" l="l"/>
            <a:pathLst>
              <a:path h="10287000" w="10191750">
                <a:moveTo>
                  <a:pt x="0" y="0"/>
                </a:moveTo>
                <a:lnTo>
                  <a:pt x="10191750" y="0"/>
                </a:lnTo>
                <a:lnTo>
                  <a:pt x="10191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9719" t="0" r="-39719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667500" y="0"/>
            <a:ext cx="6191250" cy="10287000"/>
            <a:chOff x="0" y="0"/>
            <a:chExt cx="8255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255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8255000">
                  <a:moveTo>
                    <a:pt x="0" y="0"/>
                  </a:moveTo>
                  <a:lnTo>
                    <a:pt x="8255000" y="0"/>
                  </a:lnTo>
                  <a:lnTo>
                    <a:pt x="8255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6101F">
                <a:alpha val="7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8255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533400"/>
            <a:ext cx="14287500" cy="1644967"/>
            <a:chOff x="0" y="0"/>
            <a:chExt cx="19050000" cy="219329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28575"/>
              <a:ext cx="762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89" b="true">
                  <a:solidFill>
                    <a:srgbClr val="20E0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FLOWGEN  /  02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625475"/>
              <a:ext cx="19050000" cy="1567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F4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The Hidden Crisis</a:t>
              </a:r>
            </a:p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F4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Beneath Our Cities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0"/>
            <a:ext cx="18288000" cy="66675"/>
            <a:chOff x="0" y="0"/>
            <a:chExt cx="24384000" cy="889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88900"/>
            </a:xfrm>
            <a:custGeom>
              <a:avLst/>
              <a:gdLst/>
              <a:ahLst/>
              <a:cxnLst/>
              <a:rect r="r" b="b" t="t" l="l"/>
              <a:pathLst>
                <a:path h="889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20E0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4384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14400" y="3305175"/>
            <a:ext cx="54292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spc="262" b="true">
                <a:solidFill>
                  <a:srgbClr val="20E0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TREATED WATER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3733800"/>
            <a:ext cx="5619750" cy="68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Undetected underground bursts waste treated drinking water and impose major costs.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4400" y="5305425"/>
            <a:ext cx="54292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spc="262" b="true">
                <a:solidFill>
                  <a:srgbClr val="20E0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WATER QUALITY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5734050"/>
            <a:ext cx="5619750" cy="1030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0"/>
              </a:lnSpc>
            </a:pPr>
            <a:r>
              <a:rPr lang="en-US" sz="2100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Localized chemical, metal, or bacterial contamination can remain unseen until citizens are affected.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" y="7496175"/>
            <a:ext cx="542925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spc="262" b="true">
                <a:solidFill>
                  <a:srgbClr val="20E0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CORE PAIN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14400" y="7981950"/>
            <a:ext cx="5905500" cy="62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2325" b="true">
                <a:solidFill>
                  <a:srgbClr val="F4FB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unified real-time view of pressure, flow, quality, and location.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33400"/>
            <a:ext cx="14287500" cy="1432560"/>
            <a:chOff x="0" y="0"/>
            <a:chExt cx="19050000" cy="19100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762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89" b="true">
                  <a:solidFill>
                    <a:srgbClr val="20E0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FLOWGEN  /  03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254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F4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Why Current Monitoring Isn't Enough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520825"/>
              <a:ext cx="17780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9DB5C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Data exists. Intelligence remains disconnected.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66675"/>
            <a:chOff x="0" y="0"/>
            <a:chExt cx="24384000" cy="88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88900"/>
            </a:xfrm>
            <a:custGeom>
              <a:avLst/>
              <a:gdLst/>
              <a:ahLst/>
              <a:cxnLst/>
              <a:rect r="r" b="b" t="t" l="l"/>
              <a:pathLst>
                <a:path h="889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20E0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384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43000" y="2714625"/>
            <a:ext cx="3143250" cy="838200"/>
            <a:chOff x="0" y="0"/>
            <a:chExt cx="4191000" cy="1117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910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4191000">
                  <a:moveTo>
                    <a:pt x="53879" y="0"/>
                  </a:moveTo>
                  <a:lnTo>
                    <a:pt x="4137121" y="0"/>
                  </a:lnTo>
                  <a:cubicBezTo>
                    <a:pt x="4151411" y="0"/>
                    <a:pt x="4165115" y="5676"/>
                    <a:pt x="4175219" y="15781"/>
                  </a:cubicBezTo>
                  <a:cubicBezTo>
                    <a:pt x="4185324" y="25885"/>
                    <a:pt x="4191000" y="39589"/>
                    <a:pt x="4191000" y="53879"/>
                  </a:cubicBezTo>
                  <a:lnTo>
                    <a:pt x="4191000" y="1063721"/>
                  </a:lnTo>
                  <a:cubicBezTo>
                    <a:pt x="4191000" y="1078011"/>
                    <a:pt x="4185324" y="1091715"/>
                    <a:pt x="4175219" y="1101819"/>
                  </a:cubicBezTo>
                  <a:cubicBezTo>
                    <a:pt x="4165115" y="1111924"/>
                    <a:pt x="4151411" y="1117600"/>
                    <a:pt x="4137121" y="1117600"/>
                  </a:cubicBezTo>
                  <a:lnTo>
                    <a:pt x="53879" y="1117600"/>
                  </a:lnTo>
                  <a:cubicBezTo>
                    <a:pt x="39589" y="1117600"/>
                    <a:pt x="25885" y="1111924"/>
                    <a:pt x="15781" y="1101819"/>
                  </a:cubicBezTo>
                  <a:cubicBezTo>
                    <a:pt x="5676" y="1091715"/>
                    <a:pt x="0" y="1078011"/>
                    <a:pt x="0" y="1063721"/>
                  </a:cubicBezTo>
                  <a:lnTo>
                    <a:pt x="0" y="53879"/>
                  </a:lnTo>
                  <a:cubicBezTo>
                    <a:pt x="0" y="39589"/>
                    <a:pt x="5676" y="25885"/>
                    <a:pt x="15781" y="15781"/>
                  </a:cubicBezTo>
                  <a:cubicBezTo>
                    <a:pt x="25885" y="5676"/>
                    <a:pt x="39589" y="0"/>
                    <a:pt x="53879" y="0"/>
                  </a:cubicBezTo>
                  <a:close/>
                </a:path>
              </a:pathLst>
            </a:custGeom>
            <a:solidFill>
              <a:srgbClr val="102B46"/>
            </a:solidFill>
            <a:ln w="9525" cap="sq">
              <a:solidFill>
                <a:srgbClr val="20E0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4191000" cy="1108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PERIODIC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TESTING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2714625" y="3552825"/>
            <a:ext cx="0" cy="361950"/>
          </a:xfrm>
          <a:prstGeom prst="line">
            <a:avLst/>
          </a:prstGeom>
          <a:ln cap="rnd" w="28575">
            <a:solidFill>
              <a:srgbClr val="20E0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3" id="13"/>
          <p:cNvGrpSpPr/>
          <p:nvPr/>
        </p:nvGrpSpPr>
        <p:grpSpPr>
          <a:xfrm rot="0">
            <a:off x="1143000" y="3971925"/>
            <a:ext cx="3143250" cy="838200"/>
            <a:chOff x="0" y="0"/>
            <a:chExt cx="4191000" cy="1117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910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4191000">
                  <a:moveTo>
                    <a:pt x="53879" y="0"/>
                  </a:moveTo>
                  <a:lnTo>
                    <a:pt x="4137121" y="0"/>
                  </a:lnTo>
                  <a:cubicBezTo>
                    <a:pt x="4151411" y="0"/>
                    <a:pt x="4165115" y="5676"/>
                    <a:pt x="4175219" y="15781"/>
                  </a:cubicBezTo>
                  <a:cubicBezTo>
                    <a:pt x="4185324" y="25885"/>
                    <a:pt x="4191000" y="39589"/>
                    <a:pt x="4191000" y="53879"/>
                  </a:cubicBezTo>
                  <a:lnTo>
                    <a:pt x="4191000" y="1063721"/>
                  </a:lnTo>
                  <a:cubicBezTo>
                    <a:pt x="4191000" y="1078011"/>
                    <a:pt x="4185324" y="1091715"/>
                    <a:pt x="4175219" y="1101819"/>
                  </a:cubicBezTo>
                  <a:cubicBezTo>
                    <a:pt x="4165115" y="1111924"/>
                    <a:pt x="4151411" y="1117600"/>
                    <a:pt x="4137121" y="1117600"/>
                  </a:cubicBezTo>
                  <a:lnTo>
                    <a:pt x="53879" y="1117600"/>
                  </a:lnTo>
                  <a:cubicBezTo>
                    <a:pt x="39589" y="1117600"/>
                    <a:pt x="25885" y="1111924"/>
                    <a:pt x="15781" y="1101819"/>
                  </a:cubicBezTo>
                  <a:cubicBezTo>
                    <a:pt x="5676" y="1091715"/>
                    <a:pt x="0" y="1078011"/>
                    <a:pt x="0" y="1063721"/>
                  </a:cubicBezTo>
                  <a:lnTo>
                    <a:pt x="0" y="53879"/>
                  </a:lnTo>
                  <a:cubicBezTo>
                    <a:pt x="0" y="39589"/>
                    <a:pt x="5676" y="25885"/>
                    <a:pt x="15781" y="15781"/>
                  </a:cubicBezTo>
                  <a:cubicBezTo>
                    <a:pt x="25885" y="5676"/>
                    <a:pt x="39589" y="0"/>
                    <a:pt x="53879" y="0"/>
                  </a:cubicBezTo>
                  <a:close/>
                </a:path>
              </a:pathLst>
            </a:custGeom>
            <a:solidFill>
              <a:srgbClr val="102B46"/>
            </a:solidFill>
            <a:ln w="9525" cap="sq">
              <a:solidFill>
                <a:srgbClr val="20E0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4191000" cy="1108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MANUAL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INSPECTION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2714625" y="4810125"/>
            <a:ext cx="0" cy="361950"/>
          </a:xfrm>
          <a:prstGeom prst="line">
            <a:avLst/>
          </a:prstGeom>
          <a:ln cap="rnd" w="28575">
            <a:solidFill>
              <a:srgbClr val="20E0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7" id="17"/>
          <p:cNvGrpSpPr/>
          <p:nvPr/>
        </p:nvGrpSpPr>
        <p:grpSpPr>
          <a:xfrm rot="0">
            <a:off x="1143000" y="5229225"/>
            <a:ext cx="3143250" cy="838200"/>
            <a:chOff x="0" y="0"/>
            <a:chExt cx="4191000" cy="1117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910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4191000">
                  <a:moveTo>
                    <a:pt x="53879" y="0"/>
                  </a:moveTo>
                  <a:lnTo>
                    <a:pt x="4137121" y="0"/>
                  </a:lnTo>
                  <a:cubicBezTo>
                    <a:pt x="4151411" y="0"/>
                    <a:pt x="4165115" y="5676"/>
                    <a:pt x="4175219" y="15781"/>
                  </a:cubicBezTo>
                  <a:cubicBezTo>
                    <a:pt x="4185324" y="25885"/>
                    <a:pt x="4191000" y="39589"/>
                    <a:pt x="4191000" y="53879"/>
                  </a:cubicBezTo>
                  <a:lnTo>
                    <a:pt x="4191000" y="1063721"/>
                  </a:lnTo>
                  <a:cubicBezTo>
                    <a:pt x="4191000" y="1078011"/>
                    <a:pt x="4185324" y="1091715"/>
                    <a:pt x="4175219" y="1101819"/>
                  </a:cubicBezTo>
                  <a:cubicBezTo>
                    <a:pt x="4165115" y="1111924"/>
                    <a:pt x="4151411" y="1117600"/>
                    <a:pt x="4137121" y="1117600"/>
                  </a:cubicBezTo>
                  <a:lnTo>
                    <a:pt x="53879" y="1117600"/>
                  </a:lnTo>
                  <a:cubicBezTo>
                    <a:pt x="39589" y="1117600"/>
                    <a:pt x="25885" y="1111924"/>
                    <a:pt x="15781" y="1101819"/>
                  </a:cubicBezTo>
                  <a:cubicBezTo>
                    <a:pt x="5676" y="1091715"/>
                    <a:pt x="0" y="1078011"/>
                    <a:pt x="0" y="1063721"/>
                  </a:cubicBezTo>
                  <a:lnTo>
                    <a:pt x="0" y="53879"/>
                  </a:lnTo>
                  <a:cubicBezTo>
                    <a:pt x="0" y="39589"/>
                    <a:pt x="5676" y="25885"/>
                    <a:pt x="15781" y="15781"/>
                  </a:cubicBezTo>
                  <a:cubicBezTo>
                    <a:pt x="25885" y="5676"/>
                    <a:pt x="39589" y="0"/>
                    <a:pt x="53879" y="0"/>
                  </a:cubicBezTo>
                  <a:close/>
                </a:path>
              </a:pathLst>
            </a:custGeom>
            <a:solidFill>
              <a:srgbClr val="102B46"/>
            </a:solidFill>
            <a:ln w="9525" cap="sq">
              <a:solidFill>
                <a:srgbClr val="20E0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4191000" cy="1108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CUSTOMER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COMPLAINT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2714625" y="6067425"/>
            <a:ext cx="0" cy="361950"/>
          </a:xfrm>
          <a:prstGeom prst="line">
            <a:avLst/>
          </a:prstGeom>
          <a:ln cap="rnd" w="28575">
            <a:solidFill>
              <a:srgbClr val="20E0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1" id="21"/>
          <p:cNvGrpSpPr/>
          <p:nvPr/>
        </p:nvGrpSpPr>
        <p:grpSpPr>
          <a:xfrm rot="0">
            <a:off x="1143000" y="6486525"/>
            <a:ext cx="3143250" cy="838200"/>
            <a:chOff x="0" y="0"/>
            <a:chExt cx="4191000" cy="1117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1910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4191000">
                  <a:moveTo>
                    <a:pt x="53879" y="0"/>
                  </a:moveTo>
                  <a:lnTo>
                    <a:pt x="4137121" y="0"/>
                  </a:lnTo>
                  <a:cubicBezTo>
                    <a:pt x="4151411" y="0"/>
                    <a:pt x="4165115" y="5676"/>
                    <a:pt x="4175219" y="15781"/>
                  </a:cubicBezTo>
                  <a:cubicBezTo>
                    <a:pt x="4185324" y="25885"/>
                    <a:pt x="4191000" y="39589"/>
                    <a:pt x="4191000" y="53879"/>
                  </a:cubicBezTo>
                  <a:lnTo>
                    <a:pt x="4191000" y="1063721"/>
                  </a:lnTo>
                  <a:cubicBezTo>
                    <a:pt x="4191000" y="1078011"/>
                    <a:pt x="4185324" y="1091715"/>
                    <a:pt x="4175219" y="1101819"/>
                  </a:cubicBezTo>
                  <a:cubicBezTo>
                    <a:pt x="4165115" y="1111924"/>
                    <a:pt x="4151411" y="1117600"/>
                    <a:pt x="4137121" y="1117600"/>
                  </a:cubicBezTo>
                  <a:lnTo>
                    <a:pt x="53879" y="1117600"/>
                  </a:lnTo>
                  <a:cubicBezTo>
                    <a:pt x="39589" y="1117600"/>
                    <a:pt x="25885" y="1111924"/>
                    <a:pt x="15781" y="1101819"/>
                  </a:cubicBezTo>
                  <a:cubicBezTo>
                    <a:pt x="5676" y="1091715"/>
                    <a:pt x="0" y="1078011"/>
                    <a:pt x="0" y="1063721"/>
                  </a:cubicBezTo>
                  <a:lnTo>
                    <a:pt x="0" y="53879"/>
                  </a:lnTo>
                  <a:cubicBezTo>
                    <a:pt x="0" y="39589"/>
                    <a:pt x="5676" y="25885"/>
                    <a:pt x="15781" y="15781"/>
                  </a:cubicBezTo>
                  <a:cubicBezTo>
                    <a:pt x="25885" y="5676"/>
                    <a:pt x="39589" y="0"/>
                    <a:pt x="53879" y="0"/>
                  </a:cubicBezTo>
                  <a:close/>
                </a:path>
              </a:pathLst>
            </a:custGeom>
            <a:solidFill>
              <a:srgbClr val="102B46"/>
            </a:solidFill>
            <a:ln w="9525" cap="sq">
              <a:solidFill>
                <a:srgbClr val="20E0F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4191000" cy="1108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INVESTIGATION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2714625" y="7324725"/>
            <a:ext cx="0" cy="361950"/>
          </a:xfrm>
          <a:prstGeom prst="line">
            <a:avLst/>
          </a:prstGeom>
          <a:ln cap="rnd" w="28575">
            <a:solidFill>
              <a:srgbClr val="20E0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5" id="25"/>
          <p:cNvGrpSpPr/>
          <p:nvPr/>
        </p:nvGrpSpPr>
        <p:grpSpPr>
          <a:xfrm rot="0">
            <a:off x="1143000" y="7743825"/>
            <a:ext cx="3143250" cy="838200"/>
            <a:chOff x="0" y="0"/>
            <a:chExt cx="4191000" cy="1117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191000" cy="1117600"/>
            </a:xfrm>
            <a:custGeom>
              <a:avLst/>
              <a:gdLst/>
              <a:ahLst/>
              <a:cxnLst/>
              <a:rect r="r" b="b" t="t" l="l"/>
              <a:pathLst>
                <a:path h="1117600" w="4191000">
                  <a:moveTo>
                    <a:pt x="53879" y="0"/>
                  </a:moveTo>
                  <a:lnTo>
                    <a:pt x="4137121" y="0"/>
                  </a:lnTo>
                  <a:cubicBezTo>
                    <a:pt x="4151411" y="0"/>
                    <a:pt x="4165115" y="5676"/>
                    <a:pt x="4175219" y="15781"/>
                  </a:cubicBezTo>
                  <a:cubicBezTo>
                    <a:pt x="4185324" y="25885"/>
                    <a:pt x="4191000" y="39589"/>
                    <a:pt x="4191000" y="53879"/>
                  </a:cubicBezTo>
                  <a:lnTo>
                    <a:pt x="4191000" y="1063721"/>
                  </a:lnTo>
                  <a:cubicBezTo>
                    <a:pt x="4191000" y="1078011"/>
                    <a:pt x="4185324" y="1091715"/>
                    <a:pt x="4175219" y="1101819"/>
                  </a:cubicBezTo>
                  <a:cubicBezTo>
                    <a:pt x="4165115" y="1111924"/>
                    <a:pt x="4151411" y="1117600"/>
                    <a:pt x="4137121" y="1117600"/>
                  </a:cubicBezTo>
                  <a:lnTo>
                    <a:pt x="53879" y="1117600"/>
                  </a:lnTo>
                  <a:cubicBezTo>
                    <a:pt x="39589" y="1117600"/>
                    <a:pt x="25885" y="1111924"/>
                    <a:pt x="15781" y="1101819"/>
                  </a:cubicBezTo>
                  <a:cubicBezTo>
                    <a:pt x="5676" y="1091715"/>
                    <a:pt x="0" y="1078011"/>
                    <a:pt x="0" y="1063721"/>
                  </a:cubicBezTo>
                  <a:lnTo>
                    <a:pt x="0" y="53879"/>
                  </a:lnTo>
                  <a:cubicBezTo>
                    <a:pt x="0" y="39589"/>
                    <a:pt x="5676" y="25885"/>
                    <a:pt x="15781" y="15781"/>
                  </a:cubicBezTo>
                  <a:cubicBezTo>
                    <a:pt x="25885" y="5676"/>
                    <a:pt x="39589" y="0"/>
                    <a:pt x="53879" y="0"/>
                  </a:cubicBezTo>
                  <a:close/>
                </a:path>
              </a:pathLst>
            </a:custGeom>
            <a:solidFill>
              <a:srgbClr val="102B46"/>
            </a:solidFill>
            <a:ln w="9525" cap="sq">
              <a:solidFill>
                <a:srgbClr val="20E0FF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9525"/>
              <a:ext cx="4191000" cy="1108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RESPONSE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5429250" y="2857500"/>
            <a:ext cx="5143500" cy="316230"/>
            <a:chOff x="0" y="0"/>
            <a:chExt cx="6858000" cy="421640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127000"/>
              <a:ext cx="177800" cy="177800"/>
              <a:chOff x="0" y="0"/>
              <a:chExt cx="177800" cy="177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77800" cy="177800"/>
              </a:xfrm>
              <a:custGeom>
                <a:avLst/>
                <a:gdLst/>
                <a:ahLst/>
                <a:cxnLst/>
                <a:rect r="r" b="b" t="t" l="l"/>
                <a:pathLst>
                  <a:path h="177800" w="177800">
                    <a:moveTo>
                      <a:pt x="0" y="0"/>
                    </a:moveTo>
                    <a:lnTo>
                      <a:pt x="177800" y="0"/>
                    </a:lnTo>
                    <a:lnTo>
                      <a:pt x="177800" y="177800"/>
                    </a:lnTo>
                    <a:lnTo>
                      <a:pt x="0" y="177800"/>
                    </a:lnTo>
                    <a:close/>
                  </a:path>
                </a:pathLst>
              </a:custGeom>
              <a:solidFill>
                <a:srgbClr val="FF5D7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177800" cy="21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508000" y="-28575"/>
              <a:ext cx="6350000" cy="4502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2100">
                  <a:solidFill>
                    <a:srgbClr val="F4FB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Underground leaks remain invisible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429250" y="3857625"/>
            <a:ext cx="5143500" cy="316230"/>
            <a:chOff x="0" y="0"/>
            <a:chExt cx="6858000" cy="42164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127000"/>
              <a:ext cx="177800" cy="177800"/>
              <a:chOff x="0" y="0"/>
              <a:chExt cx="177800" cy="177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77800" cy="177800"/>
              </a:xfrm>
              <a:custGeom>
                <a:avLst/>
                <a:gdLst/>
                <a:ahLst/>
                <a:cxnLst/>
                <a:rect r="r" b="b" t="t" l="l"/>
                <a:pathLst>
                  <a:path h="177800" w="177800">
                    <a:moveTo>
                      <a:pt x="0" y="0"/>
                    </a:moveTo>
                    <a:lnTo>
                      <a:pt x="177800" y="0"/>
                    </a:lnTo>
                    <a:lnTo>
                      <a:pt x="177800" y="177800"/>
                    </a:lnTo>
                    <a:lnTo>
                      <a:pt x="0" y="177800"/>
                    </a:lnTo>
                    <a:close/>
                  </a:path>
                </a:pathLst>
              </a:custGeom>
              <a:solidFill>
                <a:srgbClr val="FF5D7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177800" cy="21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508000" y="-28575"/>
              <a:ext cx="6350000" cy="4502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2100">
                  <a:solidFill>
                    <a:srgbClr val="F4FB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Quality monitoring is intermittent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429250" y="4857750"/>
            <a:ext cx="5143500" cy="254317"/>
            <a:chOff x="0" y="0"/>
            <a:chExt cx="6858000" cy="339090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127000"/>
              <a:ext cx="177800" cy="177800"/>
              <a:chOff x="0" y="0"/>
              <a:chExt cx="177800" cy="177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77800" cy="177800"/>
              </a:xfrm>
              <a:custGeom>
                <a:avLst/>
                <a:gdLst/>
                <a:ahLst/>
                <a:cxnLst/>
                <a:rect r="r" b="b" t="t" l="l"/>
                <a:pathLst>
                  <a:path h="177800" w="177800">
                    <a:moveTo>
                      <a:pt x="0" y="0"/>
                    </a:moveTo>
                    <a:lnTo>
                      <a:pt x="177800" y="0"/>
                    </a:lnTo>
                    <a:lnTo>
                      <a:pt x="177800" y="177800"/>
                    </a:lnTo>
                    <a:lnTo>
                      <a:pt x="0" y="177800"/>
                    </a:lnTo>
                    <a:close/>
                  </a:path>
                </a:pathLst>
              </a:custGeom>
              <a:solidFill>
                <a:srgbClr val="FF5D7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177800" cy="21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508000" y="-19050"/>
              <a:ext cx="6350000" cy="358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42"/>
                </a:lnSpc>
              </a:pPr>
              <a:r>
                <a:rPr lang="en-US" sz="1725">
                  <a:solidFill>
                    <a:srgbClr val="F4FB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Pressure, flow, and quality are hard to correlate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5429250" y="5857875"/>
            <a:ext cx="5143500" cy="316230"/>
            <a:chOff x="0" y="0"/>
            <a:chExt cx="6858000" cy="421640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127000"/>
              <a:ext cx="177800" cy="177800"/>
              <a:chOff x="0" y="0"/>
              <a:chExt cx="177800" cy="1778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77800" cy="177800"/>
              </a:xfrm>
              <a:custGeom>
                <a:avLst/>
                <a:gdLst/>
                <a:ahLst/>
                <a:cxnLst/>
                <a:rect r="r" b="b" t="t" l="l"/>
                <a:pathLst>
                  <a:path h="177800" w="177800">
                    <a:moveTo>
                      <a:pt x="0" y="0"/>
                    </a:moveTo>
                    <a:lnTo>
                      <a:pt x="177800" y="0"/>
                    </a:lnTo>
                    <a:lnTo>
                      <a:pt x="177800" y="177800"/>
                    </a:lnTo>
                    <a:lnTo>
                      <a:pt x="0" y="177800"/>
                    </a:lnTo>
                    <a:close/>
                  </a:path>
                </a:pathLst>
              </a:custGeom>
              <a:solidFill>
                <a:srgbClr val="FF5D73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177800" cy="215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508000" y="-28575"/>
              <a:ext cx="6350000" cy="4502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30"/>
                </a:lnSpc>
              </a:pPr>
              <a:r>
                <a:rPr lang="en-US" sz="2100">
                  <a:solidFill>
                    <a:srgbClr val="F4FB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Operators investigate signals manually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049000" y="2667000"/>
            <a:ext cx="76200" cy="4476750"/>
            <a:chOff x="0" y="0"/>
            <a:chExt cx="101600" cy="59690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1600" cy="5969000"/>
            </a:xfrm>
            <a:custGeom>
              <a:avLst/>
              <a:gdLst/>
              <a:ahLst/>
              <a:cxnLst/>
              <a:rect r="r" b="b" t="t" l="l"/>
              <a:pathLst>
                <a:path h="5969000" w="101600">
                  <a:moveTo>
                    <a:pt x="0" y="0"/>
                  </a:moveTo>
                  <a:lnTo>
                    <a:pt x="101600" y="0"/>
                  </a:lnTo>
                  <a:lnTo>
                    <a:pt x="101600" y="5969000"/>
                  </a:lnTo>
                  <a:lnTo>
                    <a:pt x="0" y="5969000"/>
                  </a:lnTo>
                  <a:close/>
                </a:path>
              </a:pathLst>
            </a:custGeom>
            <a:solidFill>
              <a:srgbClr val="20E0FF"/>
            </a:solidFill>
            <a:ln cap="sq">
              <a:noFill/>
              <a:prstDash val="solid"/>
              <a:miter/>
            </a:ln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01600" cy="600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1430000" y="3095625"/>
            <a:ext cx="5619750" cy="1864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2"/>
              </a:lnSpc>
            </a:pPr>
            <a:r>
              <a:rPr lang="en-US" sz="2850" b="true">
                <a:solidFill>
                  <a:srgbClr val="F4FB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“The challenge is not simply detecting an abnormal reading. It is understanding how multiple signals connect to the same incident.”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33400"/>
            <a:ext cx="14287500" cy="1432560"/>
            <a:chOff x="0" y="0"/>
            <a:chExt cx="19050000" cy="19100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762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89" b="true">
                  <a:solidFill>
                    <a:srgbClr val="20E0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FLOWGEN  /  04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254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F4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Meet Flowgen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520825"/>
              <a:ext cx="17780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9DB5C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From raw sensor data to actionable intelligence.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66675"/>
            <a:chOff x="0" y="0"/>
            <a:chExt cx="24384000" cy="88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88900"/>
            </a:xfrm>
            <a:custGeom>
              <a:avLst/>
              <a:gdLst/>
              <a:ahLst/>
              <a:cxnLst/>
              <a:rect r="r" b="b" t="t" l="l"/>
              <a:pathLst>
                <a:path h="889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20E0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384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66750" y="4095750"/>
            <a:ext cx="2333625" cy="1143000"/>
            <a:chOff x="0" y="0"/>
            <a:chExt cx="3111500" cy="152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11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111500">
                  <a:moveTo>
                    <a:pt x="72571" y="0"/>
                  </a:moveTo>
                  <a:lnTo>
                    <a:pt x="3038929" y="0"/>
                  </a:lnTo>
                  <a:cubicBezTo>
                    <a:pt x="3058176" y="0"/>
                    <a:pt x="3076634" y="7646"/>
                    <a:pt x="3090244" y="21256"/>
                  </a:cubicBezTo>
                  <a:cubicBezTo>
                    <a:pt x="3103854" y="34865"/>
                    <a:pt x="3111500" y="53324"/>
                    <a:pt x="3111500" y="72571"/>
                  </a:cubicBezTo>
                  <a:lnTo>
                    <a:pt x="3111500" y="1451429"/>
                  </a:lnTo>
                  <a:cubicBezTo>
                    <a:pt x="3111500" y="1470676"/>
                    <a:pt x="3103854" y="1489135"/>
                    <a:pt x="3090244" y="1502744"/>
                  </a:cubicBezTo>
                  <a:cubicBezTo>
                    <a:pt x="3076634" y="1516354"/>
                    <a:pt x="3058176" y="1524000"/>
                    <a:pt x="3038929" y="1524000"/>
                  </a:cubicBezTo>
                  <a:lnTo>
                    <a:pt x="72571" y="1524000"/>
                  </a:lnTo>
                  <a:cubicBezTo>
                    <a:pt x="53324" y="1524000"/>
                    <a:pt x="34865" y="1516354"/>
                    <a:pt x="21256" y="1502744"/>
                  </a:cubicBezTo>
                  <a:cubicBezTo>
                    <a:pt x="7646" y="1489135"/>
                    <a:pt x="0" y="1470676"/>
                    <a:pt x="0" y="1451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102B46"/>
            </a:solidFill>
            <a:ln w="9525" cap="sq">
              <a:solidFill>
                <a:srgbClr val="20E0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31115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SENSORS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3000375" y="4667250"/>
            <a:ext cx="476250" cy="0"/>
          </a:xfrm>
          <a:prstGeom prst="line">
            <a:avLst/>
          </a:prstGeom>
          <a:ln cap="rnd" w="28575">
            <a:solidFill>
              <a:srgbClr val="20E0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3" id="13"/>
          <p:cNvGrpSpPr/>
          <p:nvPr/>
        </p:nvGrpSpPr>
        <p:grpSpPr>
          <a:xfrm rot="0">
            <a:off x="3571875" y="4095750"/>
            <a:ext cx="2333625" cy="1143000"/>
            <a:chOff x="0" y="0"/>
            <a:chExt cx="3111500" cy="1524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111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111500">
                  <a:moveTo>
                    <a:pt x="72571" y="0"/>
                  </a:moveTo>
                  <a:lnTo>
                    <a:pt x="3038929" y="0"/>
                  </a:lnTo>
                  <a:cubicBezTo>
                    <a:pt x="3058176" y="0"/>
                    <a:pt x="3076634" y="7646"/>
                    <a:pt x="3090244" y="21256"/>
                  </a:cubicBezTo>
                  <a:cubicBezTo>
                    <a:pt x="3103854" y="34865"/>
                    <a:pt x="3111500" y="53324"/>
                    <a:pt x="3111500" y="72571"/>
                  </a:cubicBezTo>
                  <a:lnTo>
                    <a:pt x="3111500" y="1451429"/>
                  </a:lnTo>
                  <a:cubicBezTo>
                    <a:pt x="3111500" y="1470676"/>
                    <a:pt x="3103854" y="1489135"/>
                    <a:pt x="3090244" y="1502744"/>
                  </a:cubicBezTo>
                  <a:cubicBezTo>
                    <a:pt x="3076634" y="1516354"/>
                    <a:pt x="3058176" y="1524000"/>
                    <a:pt x="3038929" y="1524000"/>
                  </a:cubicBezTo>
                  <a:lnTo>
                    <a:pt x="72571" y="1524000"/>
                  </a:lnTo>
                  <a:cubicBezTo>
                    <a:pt x="53324" y="1524000"/>
                    <a:pt x="34865" y="1516354"/>
                    <a:pt x="21256" y="1502744"/>
                  </a:cubicBezTo>
                  <a:cubicBezTo>
                    <a:pt x="7646" y="1489135"/>
                    <a:pt x="0" y="1470676"/>
                    <a:pt x="0" y="1451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287CFF"/>
            </a:solidFill>
            <a:ln w="9525" cap="sq">
              <a:solidFill>
                <a:srgbClr val="20E0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31115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AI ANALYSIS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5905500" y="4667250"/>
            <a:ext cx="476250" cy="0"/>
          </a:xfrm>
          <a:prstGeom prst="line">
            <a:avLst/>
          </a:prstGeom>
          <a:ln cap="rnd" w="28575">
            <a:solidFill>
              <a:srgbClr val="20E0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7" id="17"/>
          <p:cNvGrpSpPr/>
          <p:nvPr/>
        </p:nvGrpSpPr>
        <p:grpSpPr>
          <a:xfrm rot="0">
            <a:off x="6477000" y="4095750"/>
            <a:ext cx="2333625" cy="1143000"/>
            <a:chOff x="0" y="0"/>
            <a:chExt cx="3111500" cy="1524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111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111500">
                  <a:moveTo>
                    <a:pt x="72571" y="0"/>
                  </a:moveTo>
                  <a:lnTo>
                    <a:pt x="3038929" y="0"/>
                  </a:lnTo>
                  <a:cubicBezTo>
                    <a:pt x="3058176" y="0"/>
                    <a:pt x="3076634" y="7646"/>
                    <a:pt x="3090244" y="21256"/>
                  </a:cubicBezTo>
                  <a:cubicBezTo>
                    <a:pt x="3103854" y="34865"/>
                    <a:pt x="3111500" y="53324"/>
                    <a:pt x="3111500" y="72571"/>
                  </a:cubicBezTo>
                  <a:lnTo>
                    <a:pt x="3111500" y="1451429"/>
                  </a:lnTo>
                  <a:cubicBezTo>
                    <a:pt x="3111500" y="1470676"/>
                    <a:pt x="3103854" y="1489135"/>
                    <a:pt x="3090244" y="1502744"/>
                  </a:cubicBezTo>
                  <a:cubicBezTo>
                    <a:pt x="3076634" y="1516354"/>
                    <a:pt x="3058176" y="1524000"/>
                    <a:pt x="3038929" y="1524000"/>
                  </a:cubicBezTo>
                  <a:lnTo>
                    <a:pt x="72571" y="1524000"/>
                  </a:lnTo>
                  <a:cubicBezTo>
                    <a:pt x="53324" y="1524000"/>
                    <a:pt x="34865" y="1516354"/>
                    <a:pt x="21256" y="1502744"/>
                  </a:cubicBezTo>
                  <a:cubicBezTo>
                    <a:pt x="7646" y="1489135"/>
                    <a:pt x="0" y="1470676"/>
                    <a:pt x="0" y="1451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102B46"/>
            </a:solidFill>
            <a:ln w="9525" cap="sq">
              <a:solidFill>
                <a:srgbClr val="20E0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31115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ANOMALY +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CONTAMINATION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8810625" y="4667250"/>
            <a:ext cx="476250" cy="0"/>
          </a:xfrm>
          <a:prstGeom prst="line">
            <a:avLst/>
          </a:prstGeom>
          <a:ln cap="rnd" w="28575">
            <a:solidFill>
              <a:srgbClr val="20E0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1" id="21"/>
          <p:cNvGrpSpPr/>
          <p:nvPr/>
        </p:nvGrpSpPr>
        <p:grpSpPr>
          <a:xfrm rot="0">
            <a:off x="9382125" y="4095750"/>
            <a:ext cx="2333625" cy="1143000"/>
            <a:chOff x="0" y="0"/>
            <a:chExt cx="3111500" cy="1524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11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111500">
                  <a:moveTo>
                    <a:pt x="72571" y="0"/>
                  </a:moveTo>
                  <a:lnTo>
                    <a:pt x="3038929" y="0"/>
                  </a:lnTo>
                  <a:cubicBezTo>
                    <a:pt x="3058176" y="0"/>
                    <a:pt x="3076634" y="7646"/>
                    <a:pt x="3090244" y="21256"/>
                  </a:cubicBezTo>
                  <a:cubicBezTo>
                    <a:pt x="3103854" y="34865"/>
                    <a:pt x="3111500" y="53324"/>
                    <a:pt x="3111500" y="72571"/>
                  </a:cubicBezTo>
                  <a:lnTo>
                    <a:pt x="3111500" y="1451429"/>
                  </a:lnTo>
                  <a:cubicBezTo>
                    <a:pt x="3111500" y="1470676"/>
                    <a:pt x="3103854" y="1489135"/>
                    <a:pt x="3090244" y="1502744"/>
                  </a:cubicBezTo>
                  <a:cubicBezTo>
                    <a:pt x="3076634" y="1516354"/>
                    <a:pt x="3058176" y="1524000"/>
                    <a:pt x="3038929" y="1524000"/>
                  </a:cubicBezTo>
                  <a:lnTo>
                    <a:pt x="72571" y="1524000"/>
                  </a:lnTo>
                  <a:cubicBezTo>
                    <a:pt x="53324" y="1524000"/>
                    <a:pt x="34865" y="1516354"/>
                    <a:pt x="21256" y="1502744"/>
                  </a:cubicBezTo>
                  <a:cubicBezTo>
                    <a:pt x="7646" y="1489135"/>
                    <a:pt x="0" y="1470676"/>
                    <a:pt x="0" y="1451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102B46"/>
            </a:solidFill>
            <a:ln w="9525" cap="sq">
              <a:solidFill>
                <a:srgbClr val="20E0F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31115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RISK LOCATION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11715750" y="4667250"/>
            <a:ext cx="476250" cy="0"/>
          </a:xfrm>
          <a:prstGeom prst="line">
            <a:avLst/>
          </a:prstGeom>
          <a:ln cap="rnd" w="28575">
            <a:solidFill>
              <a:srgbClr val="20E0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5" id="25"/>
          <p:cNvGrpSpPr/>
          <p:nvPr/>
        </p:nvGrpSpPr>
        <p:grpSpPr>
          <a:xfrm rot="0">
            <a:off x="12287250" y="4095750"/>
            <a:ext cx="2333625" cy="1143000"/>
            <a:chOff x="0" y="0"/>
            <a:chExt cx="3111500" cy="1524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111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111500">
                  <a:moveTo>
                    <a:pt x="72571" y="0"/>
                  </a:moveTo>
                  <a:lnTo>
                    <a:pt x="3038929" y="0"/>
                  </a:lnTo>
                  <a:cubicBezTo>
                    <a:pt x="3058176" y="0"/>
                    <a:pt x="3076634" y="7646"/>
                    <a:pt x="3090244" y="21256"/>
                  </a:cubicBezTo>
                  <a:cubicBezTo>
                    <a:pt x="3103854" y="34865"/>
                    <a:pt x="3111500" y="53324"/>
                    <a:pt x="3111500" y="72571"/>
                  </a:cubicBezTo>
                  <a:lnTo>
                    <a:pt x="3111500" y="1451429"/>
                  </a:lnTo>
                  <a:cubicBezTo>
                    <a:pt x="3111500" y="1470676"/>
                    <a:pt x="3103854" y="1489135"/>
                    <a:pt x="3090244" y="1502744"/>
                  </a:cubicBezTo>
                  <a:cubicBezTo>
                    <a:pt x="3076634" y="1516354"/>
                    <a:pt x="3058176" y="1524000"/>
                    <a:pt x="3038929" y="1524000"/>
                  </a:cubicBezTo>
                  <a:lnTo>
                    <a:pt x="72571" y="1524000"/>
                  </a:lnTo>
                  <a:cubicBezTo>
                    <a:pt x="53324" y="1524000"/>
                    <a:pt x="34865" y="1516354"/>
                    <a:pt x="21256" y="1502744"/>
                  </a:cubicBezTo>
                  <a:cubicBezTo>
                    <a:pt x="7646" y="1489135"/>
                    <a:pt x="0" y="1470676"/>
                    <a:pt x="0" y="1451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102B46"/>
            </a:solidFill>
            <a:ln w="9525" cap="sq">
              <a:solidFill>
                <a:srgbClr val="20E0FF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9525"/>
              <a:ext cx="31115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ACTIONABLE ALERT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>
            <a:off x="14620875" y="4667250"/>
            <a:ext cx="476250" cy="0"/>
          </a:xfrm>
          <a:prstGeom prst="line">
            <a:avLst/>
          </a:prstGeom>
          <a:ln cap="rnd" w="28575">
            <a:solidFill>
              <a:srgbClr val="20E0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9" id="29"/>
          <p:cNvGrpSpPr/>
          <p:nvPr/>
        </p:nvGrpSpPr>
        <p:grpSpPr>
          <a:xfrm rot="0">
            <a:off x="15192375" y="4095750"/>
            <a:ext cx="2333625" cy="1143000"/>
            <a:chOff x="0" y="0"/>
            <a:chExt cx="3111500" cy="1524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1115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111500">
                  <a:moveTo>
                    <a:pt x="72571" y="0"/>
                  </a:moveTo>
                  <a:lnTo>
                    <a:pt x="3038929" y="0"/>
                  </a:lnTo>
                  <a:cubicBezTo>
                    <a:pt x="3058176" y="0"/>
                    <a:pt x="3076634" y="7646"/>
                    <a:pt x="3090244" y="21256"/>
                  </a:cubicBezTo>
                  <a:cubicBezTo>
                    <a:pt x="3103854" y="34865"/>
                    <a:pt x="3111500" y="53324"/>
                    <a:pt x="3111500" y="72571"/>
                  </a:cubicBezTo>
                  <a:lnTo>
                    <a:pt x="3111500" y="1451429"/>
                  </a:lnTo>
                  <a:cubicBezTo>
                    <a:pt x="3111500" y="1470676"/>
                    <a:pt x="3103854" y="1489135"/>
                    <a:pt x="3090244" y="1502744"/>
                  </a:cubicBezTo>
                  <a:cubicBezTo>
                    <a:pt x="3076634" y="1516354"/>
                    <a:pt x="3058176" y="1524000"/>
                    <a:pt x="3038929" y="1524000"/>
                  </a:cubicBezTo>
                  <a:lnTo>
                    <a:pt x="72571" y="1524000"/>
                  </a:lnTo>
                  <a:cubicBezTo>
                    <a:pt x="53324" y="1524000"/>
                    <a:pt x="34865" y="1516354"/>
                    <a:pt x="21256" y="1502744"/>
                  </a:cubicBezTo>
                  <a:cubicBezTo>
                    <a:pt x="7646" y="1489135"/>
                    <a:pt x="0" y="1470676"/>
                    <a:pt x="0" y="1451429"/>
                  </a:cubicBezTo>
                  <a:lnTo>
                    <a:pt x="0" y="72571"/>
                  </a:lnTo>
                  <a:cubicBezTo>
                    <a:pt x="0" y="53324"/>
                    <a:pt x="7646" y="34865"/>
                    <a:pt x="21256" y="21256"/>
                  </a:cubicBezTo>
                  <a:cubicBezTo>
                    <a:pt x="34865" y="7646"/>
                    <a:pt x="53324" y="0"/>
                    <a:pt x="72571" y="0"/>
                  </a:cubicBezTo>
                  <a:close/>
                </a:path>
              </a:pathLst>
            </a:custGeom>
            <a:solidFill>
              <a:srgbClr val="102B46"/>
            </a:solidFill>
            <a:ln w="9525" cap="sq">
              <a:solidFill>
                <a:srgbClr val="20E0FF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9525"/>
              <a:ext cx="31115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OPERATOR RESPONSE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714500" y="6734175"/>
            <a:ext cx="14859000" cy="779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400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Flowgen combines real-time sensor data, machine-learning anomaly detection, contamination analysis, GIS-based risk mapping, and predictive maintenance in one operator-ready system.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5191125" y="3781425"/>
            <a:ext cx="2905125" cy="1771650"/>
            <a:chOff x="0" y="0"/>
            <a:chExt cx="3873500" cy="2362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873500" cy="2362200"/>
            </a:xfrm>
            <a:custGeom>
              <a:avLst/>
              <a:gdLst/>
              <a:ahLst/>
              <a:cxnLst/>
              <a:rect r="r" b="b" t="t" l="l"/>
              <a:pathLst>
                <a:path h="2362200" w="3873500">
                  <a:moveTo>
                    <a:pt x="0" y="0"/>
                  </a:moveTo>
                  <a:lnTo>
                    <a:pt x="3873500" y="0"/>
                  </a:lnTo>
                  <a:lnTo>
                    <a:pt x="3873500" y="2362200"/>
                  </a:lnTo>
                  <a:lnTo>
                    <a:pt x="0" y="2362200"/>
                  </a:lnTo>
                  <a:close/>
                </a:path>
              </a:pathLst>
            </a:custGeom>
            <a:solidFill>
              <a:srgbClr val="20E0FF">
                <a:alpha val="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3873500" cy="2400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33400"/>
            <a:ext cx="14287500" cy="1073468"/>
            <a:chOff x="0" y="0"/>
            <a:chExt cx="19050000" cy="14312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762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89" b="true">
                  <a:solidFill>
                    <a:srgbClr val="20E0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FLOWGEN  /  05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254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F4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Five Intelligence Layers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66675"/>
            <a:chOff x="0" y="0"/>
            <a:chExt cx="24384000" cy="88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88900"/>
            </a:xfrm>
            <a:custGeom>
              <a:avLst/>
              <a:gdLst/>
              <a:ahLst/>
              <a:cxnLst/>
              <a:rect r="r" b="b" t="t" l="l"/>
              <a:pathLst>
                <a:path h="889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20E0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239000" y="3143250"/>
            <a:ext cx="3810000" cy="3810000"/>
            <a:chOff x="0" y="0"/>
            <a:chExt cx="5080000" cy="508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80000" cy="5080000"/>
            </a:xfrm>
            <a:custGeom>
              <a:avLst/>
              <a:gdLst/>
              <a:ahLst/>
              <a:cxnLst/>
              <a:rect r="r" b="b" t="t" l="l"/>
              <a:pathLst>
                <a:path h="5080000" w="5080000">
                  <a:moveTo>
                    <a:pt x="2540000" y="0"/>
                  </a:moveTo>
                  <a:cubicBezTo>
                    <a:pt x="3942803" y="0"/>
                    <a:pt x="5080000" y="1137197"/>
                    <a:pt x="5080000" y="2540000"/>
                  </a:cubicBezTo>
                  <a:cubicBezTo>
                    <a:pt x="5080000" y="3942803"/>
                    <a:pt x="3942803" y="5080000"/>
                    <a:pt x="2540000" y="5080000"/>
                  </a:cubicBezTo>
                  <a:cubicBezTo>
                    <a:pt x="1137197" y="5080000"/>
                    <a:pt x="0" y="3942803"/>
                    <a:pt x="0" y="2540000"/>
                  </a:cubicBezTo>
                  <a:cubicBezTo>
                    <a:pt x="0" y="1137197"/>
                    <a:pt x="1137197" y="0"/>
                    <a:pt x="2540000" y="0"/>
                  </a:cubicBezTo>
                  <a:close/>
                </a:path>
              </a:pathLst>
            </a:custGeom>
            <a:solidFill>
              <a:srgbClr val="287CFF"/>
            </a:solidFill>
            <a:ln w="28575" cap="sq">
              <a:solidFill>
                <a:srgbClr val="20E0FF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7239000" y="3781425"/>
            <a:ext cx="3810000" cy="107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52"/>
              </a:lnSpc>
            </a:pPr>
            <a:r>
              <a:rPr lang="en-US" sz="4050" b="true">
                <a:solidFill>
                  <a:srgbClr val="F4FB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FLOWGEN</a:t>
            </a:r>
          </a:p>
          <a:p>
            <a:pPr algn="ctr">
              <a:lnSpc>
                <a:spcPts val="4252"/>
              </a:lnSpc>
            </a:pPr>
            <a:r>
              <a:rPr lang="en-US" sz="4050" b="true">
                <a:solidFill>
                  <a:srgbClr val="F4FB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CORE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62000" y="2857500"/>
            <a:ext cx="4572000" cy="2095500"/>
            <a:chOff x="0" y="0"/>
            <a:chExt cx="6096000" cy="27940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6096000" cy="2794000"/>
              <a:chOff x="0" y="0"/>
              <a:chExt cx="6096000" cy="27940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6096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0D203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6096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355600" y="327025"/>
              <a:ext cx="5334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210" b="true">
                  <a:solidFill>
                    <a:srgbClr val="20E0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REAL-TIME ANOMALY DETECTION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355600" y="981075"/>
              <a:ext cx="5334000" cy="790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F4FB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Continuously monitors pressure, flow, and water quality.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5334000" y="3905250"/>
            <a:ext cx="3810000" cy="1143000"/>
          </a:xfrm>
          <a:prstGeom prst="line">
            <a:avLst/>
          </a:prstGeom>
          <a:ln cap="flat" w="19050">
            <a:solidFill>
              <a:srgbClr val="24516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762000" y="6191250"/>
            <a:ext cx="4572000" cy="2095500"/>
            <a:chOff x="0" y="0"/>
            <a:chExt cx="6096000" cy="27940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6096000" cy="2794000"/>
              <a:chOff x="0" y="0"/>
              <a:chExt cx="6096000" cy="2794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096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0D203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6096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355600" y="327025"/>
              <a:ext cx="5334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210" b="true">
                  <a:solidFill>
                    <a:srgbClr val="20E0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CONTAMINATION CLASSIFICATION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55600" y="981075"/>
              <a:ext cx="5334000" cy="790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F4FB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Identifies abnormal water-quality patterns and risks.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 flipV="true">
            <a:off x="5334000" y="5048250"/>
            <a:ext cx="3810000" cy="2190750"/>
          </a:xfrm>
          <a:prstGeom prst="line">
            <a:avLst/>
          </a:prstGeom>
          <a:ln cap="flat" w="19050">
            <a:solidFill>
              <a:srgbClr val="24516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12954000" y="2857500"/>
            <a:ext cx="4572000" cy="2095500"/>
            <a:chOff x="0" y="0"/>
            <a:chExt cx="6096000" cy="27940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6096000" cy="2794000"/>
              <a:chOff x="0" y="0"/>
              <a:chExt cx="6096000" cy="2794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096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0D203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6096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355600" y="327025"/>
              <a:ext cx="5334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210" b="true">
                  <a:solidFill>
                    <a:srgbClr val="20E0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GIS-BASED RISK MAPPING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355600" y="981075"/>
              <a:ext cx="5334000" cy="790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F4FB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Maps pipeline zones and downstream impact areas.</a:t>
              </a:r>
            </a:p>
          </p:txBody>
        </p:sp>
      </p:grpSp>
      <p:sp>
        <p:nvSpPr>
          <p:cNvPr name="AutoShape 31" id="31"/>
          <p:cNvSpPr/>
          <p:nvPr/>
        </p:nvSpPr>
        <p:spPr>
          <a:xfrm flipH="true">
            <a:off x="9144000" y="3905250"/>
            <a:ext cx="3810000" cy="1143000"/>
          </a:xfrm>
          <a:prstGeom prst="line">
            <a:avLst/>
          </a:prstGeom>
          <a:ln cap="flat" w="19050">
            <a:solidFill>
              <a:srgbClr val="24516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12954000" y="6191250"/>
            <a:ext cx="4572000" cy="2095500"/>
            <a:chOff x="0" y="0"/>
            <a:chExt cx="6096000" cy="2794000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6096000" cy="2794000"/>
              <a:chOff x="0" y="0"/>
              <a:chExt cx="6096000" cy="27940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6096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0D203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6096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355600" y="327025"/>
              <a:ext cx="5334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210" b="true">
                  <a:solidFill>
                    <a:srgbClr val="20E0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PREDICTIVE MAINTENANCE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355600" y="981075"/>
              <a:ext cx="5334000" cy="790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F4FB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Flags higher-risk infrastructure for earlier attention.</a:t>
              </a:r>
            </a:p>
          </p:txBody>
        </p:sp>
      </p:grpSp>
      <p:sp>
        <p:nvSpPr>
          <p:cNvPr name="AutoShape 38" id="38"/>
          <p:cNvSpPr/>
          <p:nvPr/>
        </p:nvSpPr>
        <p:spPr>
          <a:xfrm flipH="true" flipV="true">
            <a:off x="9144000" y="5048250"/>
            <a:ext cx="3810000" cy="2190750"/>
          </a:xfrm>
          <a:prstGeom prst="line">
            <a:avLst/>
          </a:prstGeom>
          <a:ln cap="flat" w="19050">
            <a:solidFill>
              <a:srgbClr val="24516D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6858000" y="6953250"/>
            <a:ext cx="4572000" cy="2095500"/>
            <a:chOff x="0" y="0"/>
            <a:chExt cx="6096000" cy="2794000"/>
          </a:xfrm>
        </p:grpSpPr>
        <p:grpSp>
          <p:nvGrpSpPr>
            <p:cNvPr name="Group 40" id="40"/>
            <p:cNvGrpSpPr/>
            <p:nvPr/>
          </p:nvGrpSpPr>
          <p:grpSpPr>
            <a:xfrm rot="0">
              <a:off x="0" y="0"/>
              <a:ext cx="6096000" cy="2794000"/>
              <a:chOff x="0" y="0"/>
              <a:chExt cx="6096000" cy="27940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6096000" cy="2794000"/>
              </a:xfrm>
              <a:custGeom>
                <a:avLst/>
                <a:gdLst/>
                <a:ahLst/>
                <a:cxnLst/>
                <a:rect r="r" b="b" t="t" l="l"/>
                <a:pathLst>
                  <a:path h="2794000" w="6096000">
                    <a:moveTo>
                      <a:pt x="0" y="0"/>
                    </a:moveTo>
                    <a:lnTo>
                      <a:pt x="6096000" y="0"/>
                    </a:lnTo>
                    <a:lnTo>
                      <a:pt x="6096000" y="2794000"/>
                    </a:lnTo>
                    <a:lnTo>
                      <a:pt x="0" y="2794000"/>
                    </a:lnTo>
                    <a:close/>
                  </a:path>
                </a:pathLst>
              </a:custGeom>
              <a:solidFill>
                <a:srgbClr val="0D203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6096000" cy="283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355600" y="327025"/>
              <a:ext cx="5334000" cy="3333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210" b="true">
                  <a:solidFill>
                    <a:srgbClr val="20E0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SMART ALERTS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355600" y="981075"/>
              <a:ext cx="5334000" cy="7905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7"/>
                </a:lnSpc>
              </a:pPr>
              <a:r>
                <a:rPr lang="en-US" sz="1875">
                  <a:solidFill>
                    <a:srgbClr val="F4FB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Prioritizes events and response recommendations.</a:t>
              </a:r>
            </a:p>
          </p:txBody>
        </p:sp>
      </p:grpSp>
      <p:sp>
        <p:nvSpPr>
          <p:cNvPr name="AutoShape 45" id="45"/>
          <p:cNvSpPr/>
          <p:nvPr/>
        </p:nvSpPr>
        <p:spPr>
          <a:xfrm flipV="true">
            <a:off x="6858000" y="5048250"/>
            <a:ext cx="2286000" cy="2952750"/>
          </a:xfrm>
          <a:prstGeom prst="line">
            <a:avLst/>
          </a:prstGeom>
          <a:ln cap="flat" w="19050">
            <a:solidFill>
              <a:srgbClr val="24516D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33400"/>
            <a:ext cx="14287500" cy="1432560"/>
            <a:chOff x="0" y="0"/>
            <a:chExt cx="19050000" cy="19100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762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89" b="true">
                  <a:solidFill>
                    <a:srgbClr val="20E0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FLOWGEN  /  06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254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F4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How Flowgen Works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520825"/>
              <a:ext cx="17780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9DB5C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Continuous data → AI reasoning → location-aware intelligence → action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66675"/>
            <a:chOff x="0" y="0"/>
            <a:chExt cx="24384000" cy="88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88900"/>
            </a:xfrm>
            <a:custGeom>
              <a:avLst/>
              <a:gdLst/>
              <a:ahLst/>
              <a:cxnLst/>
              <a:rect r="r" b="b" t="t" l="l"/>
              <a:pathLst>
                <a:path h="889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20E0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384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62000" y="2952750"/>
            <a:ext cx="2428875" cy="1047750"/>
            <a:chOff x="0" y="0"/>
            <a:chExt cx="3238500" cy="1397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38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238500">
                  <a:moveTo>
                    <a:pt x="69725" y="0"/>
                  </a:moveTo>
                  <a:lnTo>
                    <a:pt x="3168775" y="0"/>
                  </a:lnTo>
                  <a:cubicBezTo>
                    <a:pt x="3207283" y="0"/>
                    <a:pt x="3238500" y="31217"/>
                    <a:pt x="3238500" y="69725"/>
                  </a:cubicBezTo>
                  <a:lnTo>
                    <a:pt x="3238500" y="1327275"/>
                  </a:lnTo>
                  <a:cubicBezTo>
                    <a:pt x="3238500" y="1365783"/>
                    <a:pt x="3207283" y="1397000"/>
                    <a:pt x="3168775" y="1397000"/>
                  </a:cubicBezTo>
                  <a:lnTo>
                    <a:pt x="69725" y="1397000"/>
                  </a:lnTo>
                  <a:cubicBezTo>
                    <a:pt x="31217" y="1397000"/>
                    <a:pt x="0" y="1365783"/>
                    <a:pt x="0" y="1327275"/>
                  </a:cubicBezTo>
                  <a:lnTo>
                    <a:pt x="0" y="69725"/>
                  </a:lnTo>
                  <a:cubicBezTo>
                    <a:pt x="0" y="31217"/>
                    <a:pt x="31217" y="0"/>
                    <a:pt x="69725" y="0"/>
                  </a:cubicBezTo>
                  <a:close/>
                </a:path>
              </a:pathLst>
            </a:custGeom>
            <a:solidFill>
              <a:srgbClr val="102B46"/>
            </a:solidFill>
            <a:ln w="9525" cap="sq">
              <a:solidFill>
                <a:srgbClr val="20E0FF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32385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WATER NETWORK</a:t>
              </a:r>
            </a:p>
          </p:txBody>
        </p:sp>
      </p:grpSp>
      <p:sp>
        <p:nvSpPr>
          <p:cNvPr name="AutoShape 12" id="12"/>
          <p:cNvSpPr/>
          <p:nvPr/>
        </p:nvSpPr>
        <p:spPr>
          <a:xfrm>
            <a:off x="3190875" y="3476625"/>
            <a:ext cx="523875" cy="0"/>
          </a:xfrm>
          <a:prstGeom prst="line">
            <a:avLst/>
          </a:prstGeom>
          <a:ln cap="rnd" w="28575">
            <a:solidFill>
              <a:srgbClr val="20E0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3" id="13"/>
          <p:cNvGrpSpPr/>
          <p:nvPr/>
        </p:nvGrpSpPr>
        <p:grpSpPr>
          <a:xfrm rot="0">
            <a:off x="3810000" y="2952750"/>
            <a:ext cx="2428875" cy="1047750"/>
            <a:chOff x="0" y="0"/>
            <a:chExt cx="3238500" cy="1397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238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238500">
                  <a:moveTo>
                    <a:pt x="69725" y="0"/>
                  </a:moveTo>
                  <a:lnTo>
                    <a:pt x="3168775" y="0"/>
                  </a:lnTo>
                  <a:cubicBezTo>
                    <a:pt x="3207283" y="0"/>
                    <a:pt x="3238500" y="31217"/>
                    <a:pt x="3238500" y="69725"/>
                  </a:cubicBezTo>
                  <a:lnTo>
                    <a:pt x="3238500" y="1327275"/>
                  </a:lnTo>
                  <a:cubicBezTo>
                    <a:pt x="3238500" y="1365783"/>
                    <a:pt x="3207283" y="1397000"/>
                    <a:pt x="3168775" y="1397000"/>
                  </a:cubicBezTo>
                  <a:lnTo>
                    <a:pt x="69725" y="1397000"/>
                  </a:lnTo>
                  <a:cubicBezTo>
                    <a:pt x="31217" y="1397000"/>
                    <a:pt x="0" y="1365783"/>
                    <a:pt x="0" y="1327275"/>
                  </a:cubicBezTo>
                  <a:lnTo>
                    <a:pt x="0" y="69725"/>
                  </a:lnTo>
                  <a:cubicBezTo>
                    <a:pt x="0" y="31217"/>
                    <a:pt x="31217" y="0"/>
                    <a:pt x="69725" y="0"/>
                  </a:cubicBezTo>
                  <a:close/>
                </a:path>
              </a:pathLst>
            </a:custGeom>
            <a:solidFill>
              <a:srgbClr val="102B46"/>
            </a:solidFill>
            <a:ln w="9525" cap="sq">
              <a:solidFill>
                <a:srgbClr val="20E0FF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32385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IoT / SENSOR DATA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6238875" y="3476625"/>
            <a:ext cx="523875" cy="0"/>
          </a:xfrm>
          <a:prstGeom prst="line">
            <a:avLst/>
          </a:prstGeom>
          <a:ln cap="rnd" w="28575">
            <a:solidFill>
              <a:srgbClr val="20E0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7" id="17"/>
          <p:cNvGrpSpPr/>
          <p:nvPr/>
        </p:nvGrpSpPr>
        <p:grpSpPr>
          <a:xfrm rot="0">
            <a:off x="6858000" y="2952750"/>
            <a:ext cx="2428875" cy="1047750"/>
            <a:chOff x="0" y="0"/>
            <a:chExt cx="3238500" cy="1397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238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238500">
                  <a:moveTo>
                    <a:pt x="69725" y="0"/>
                  </a:moveTo>
                  <a:lnTo>
                    <a:pt x="3168775" y="0"/>
                  </a:lnTo>
                  <a:cubicBezTo>
                    <a:pt x="3207283" y="0"/>
                    <a:pt x="3238500" y="31217"/>
                    <a:pt x="3238500" y="69725"/>
                  </a:cubicBezTo>
                  <a:lnTo>
                    <a:pt x="3238500" y="1327275"/>
                  </a:lnTo>
                  <a:cubicBezTo>
                    <a:pt x="3238500" y="1365783"/>
                    <a:pt x="3207283" y="1397000"/>
                    <a:pt x="3168775" y="1397000"/>
                  </a:cubicBezTo>
                  <a:lnTo>
                    <a:pt x="69725" y="1397000"/>
                  </a:lnTo>
                  <a:cubicBezTo>
                    <a:pt x="31217" y="1397000"/>
                    <a:pt x="0" y="1365783"/>
                    <a:pt x="0" y="1327275"/>
                  </a:cubicBezTo>
                  <a:lnTo>
                    <a:pt x="0" y="69725"/>
                  </a:lnTo>
                  <a:cubicBezTo>
                    <a:pt x="0" y="31217"/>
                    <a:pt x="31217" y="0"/>
                    <a:pt x="69725" y="0"/>
                  </a:cubicBezTo>
                  <a:close/>
                </a:path>
              </a:pathLst>
            </a:custGeom>
            <a:solidFill>
              <a:srgbClr val="102B46"/>
            </a:solidFill>
            <a:ln w="9525" cap="sq">
              <a:solidFill>
                <a:srgbClr val="20E0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9525"/>
              <a:ext cx="32385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PRESSURE + FLOW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+ WATER QUALITY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9286875" y="3476625"/>
            <a:ext cx="523875" cy="0"/>
          </a:xfrm>
          <a:prstGeom prst="line">
            <a:avLst/>
          </a:prstGeom>
          <a:ln cap="rnd" w="28575">
            <a:solidFill>
              <a:srgbClr val="20E0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1" id="21"/>
          <p:cNvGrpSpPr/>
          <p:nvPr/>
        </p:nvGrpSpPr>
        <p:grpSpPr>
          <a:xfrm rot="0">
            <a:off x="9906000" y="2952750"/>
            <a:ext cx="2428875" cy="1047750"/>
            <a:chOff x="0" y="0"/>
            <a:chExt cx="3238500" cy="1397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2385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238500">
                  <a:moveTo>
                    <a:pt x="69725" y="0"/>
                  </a:moveTo>
                  <a:lnTo>
                    <a:pt x="3168775" y="0"/>
                  </a:lnTo>
                  <a:cubicBezTo>
                    <a:pt x="3207283" y="0"/>
                    <a:pt x="3238500" y="31217"/>
                    <a:pt x="3238500" y="69725"/>
                  </a:cubicBezTo>
                  <a:lnTo>
                    <a:pt x="3238500" y="1327275"/>
                  </a:lnTo>
                  <a:cubicBezTo>
                    <a:pt x="3238500" y="1365783"/>
                    <a:pt x="3207283" y="1397000"/>
                    <a:pt x="3168775" y="1397000"/>
                  </a:cubicBezTo>
                  <a:lnTo>
                    <a:pt x="69725" y="1397000"/>
                  </a:lnTo>
                  <a:cubicBezTo>
                    <a:pt x="31217" y="1397000"/>
                    <a:pt x="0" y="1365783"/>
                    <a:pt x="0" y="1327275"/>
                  </a:cubicBezTo>
                  <a:lnTo>
                    <a:pt x="0" y="69725"/>
                  </a:lnTo>
                  <a:cubicBezTo>
                    <a:pt x="0" y="31217"/>
                    <a:pt x="31217" y="0"/>
                    <a:pt x="69725" y="0"/>
                  </a:cubicBezTo>
                  <a:close/>
                </a:path>
              </a:pathLst>
            </a:custGeom>
            <a:solidFill>
              <a:srgbClr val="287CFF"/>
            </a:solidFill>
            <a:ln w="9525" cap="sq">
              <a:solidFill>
                <a:srgbClr val="20E0F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32385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FLOWGEN AI ENGINE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096500" y="4476750"/>
            <a:ext cx="3048000" cy="819150"/>
            <a:chOff x="0" y="0"/>
            <a:chExt cx="4064000" cy="1092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092200"/>
            </a:xfrm>
            <a:custGeom>
              <a:avLst/>
              <a:gdLst/>
              <a:ahLst/>
              <a:cxnLst/>
              <a:rect r="r" b="b" t="t" l="l"/>
              <a:pathLst>
                <a:path h="1092200" w="4064000">
                  <a:moveTo>
                    <a:pt x="55562" y="0"/>
                  </a:moveTo>
                  <a:lnTo>
                    <a:pt x="4008438" y="0"/>
                  </a:lnTo>
                  <a:cubicBezTo>
                    <a:pt x="4039124" y="0"/>
                    <a:pt x="4064000" y="24876"/>
                    <a:pt x="4064000" y="55562"/>
                  </a:cubicBezTo>
                  <a:lnTo>
                    <a:pt x="4064000" y="1036638"/>
                  </a:lnTo>
                  <a:cubicBezTo>
                    <a:pt x="4064000" y="1067324"/>
                    <a:pt x="4039124" y="1092200"/>
                    <a:pt x="4008438" y="1092200"/>
                  </a:cubicBezTo>
                  <a:lnTo>
                    <a:pt x="55562" y="1092200"/>
                  </a:lnTo>
                  <a:cubicBezTo>
                    <a:pt x="24876" y="1092200"/>
                    <a:pt x="0" y="1067324"/>
                    <a:pt x="0" y="1036638"/>
                  </a:cubicBezTo>
                  <a:lnTo>
                    <a:pt x="0" y="55562"/>
                  </a:lnTo>
                  <a:cubicBezTo>
                    <a:pt x="0" y="24876"/>
                    <a:pt x="24876" y="0"/>
                    <a:pt x="55562" y="0"/>
                  </a:cubicBezTo>
                  <a:close/>
                </a:path>
              </a:pathLst>
            </a:custGeom>
            <a:solidFill>
              <a:srgbClr val="102B46"/>
            </a:solidFill>
            <a:ln w="9525" cap="sq">
              <a:solidFill>
                <a:srgbClr val="20E0F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4064000" cy="1082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ANOMALY DETECTION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525500" y="4476750"/>
            <a:ext cx="3048000" cy="819150"/>
            <a:chOff x="0" y="0"/>
            <a:chExt cx="4064000" cy="1092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064000" cy="1092200"/>
            </a:xfrm>
            <a:custGeom>
              <a:avLst/>
              <a:gdLst/>
              <a:ahLst/>
              <a:cxnLst/>
              <a:rect r="r" b="b" t="t" l="l"/>
              <a:pathLst>
                <a:path h="1092200" w="4064000">
                  <a:moveTo>
                    <a:pt x="55562" y="0"/>
                  </a:moveTo>
                  <a:lnTo>
                    <a:pt x="4008438" y="0"/>
                  </a:lnTo>
                  <a:cubicBezTo>
                    <a:pt x="4039124" y="0"/>
                    <a:pt x="4064000" y="24876"/>
                    <a:pt x="4064000" y="55562"/>
                  </a:cubicBezTo>
                  <a:lnTo>
                    <a:pt x="4064000" y="1036638"/>
                  </a:lnTo>
                  <a:cubicBezTo>
                    <a:pt x="4064000" y="1067324"/>
                    <a:pt x="4039124" y="1092200"/>
                    <a:pt x="4008438" y="1092200"/>
                  </a:cubicBezTo>
                  <a:lnTo>
                    <a:pt x="55562" y="1092200"/>
                  </a:lnTo>
                  <a:cubicBezTo>
                    <a:pt x="24876" y="1092200"/>
                    <a:pt x="0" y="1067324"/>
                    <a:pt x="0" y="1036638"/>
                  </a:cubicBezTo>
                  <a:lnTo>
                    <a:pt x="0" y="55562"/>
                  </a:lnTo>
                  <a:cubicBezTo>
                    <a:pt x="0" y="24876"/>
                    <a:pt x="24876" y="0"/>
                    <a:pt x="55562" y="0"/>
                  </a:cubicBezTo>
                  <a:close/>
                </a:path>
              </a:pathLst>
            </a:custGeom>
            <a:solidFill>
              <a:srgbClr val="102B46"/>
            </a:solidFill>
            <a:ln w="9525" cap="sq">
              <a:solidFill>
                <a:srgbClr val="20E0FF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4064000" cy="1082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CONTAMINATION ANALYSIS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096500" y="5715000"/>
            <a:ext cx="3048000" cy="819150"/>
            <a:chOff x="0" y="0"/>
            <a:chExt cx="4064000" cy="1092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064000" cy="1092200"/>
            </a:xfrm>
            <a:custGeom>
              <a:avLst/>
              <a:gdLst/>
              <a:ahLst/>
              <a:cxnLst/>
              <a:rect r="r" b="b" t="t" l="l"/>
              <a:pathLst>
                <a:path h="1092200" w="4064000">
                  <a:moveTo>
                    <a:pt x="55562" y="0"/>
                  </a:moveTo>
                  <a:lnTo>
                    <a:pt x="4008438" y="0"/>
                  </a:lnTo>
                  <a:cubicBezTo>
                    <a:pt x="4039124" y="0"/>
                    <a:pt x="4064000" y="24876"/>
                    <a:pt x="4064000" y="55562"/>
                  </a:cubicBezTo>
                  <a:lnTo>
                    <a:pt x="4064000" y="1036638"/>
                  </a:lnTo>
                  <a:cubicBezTo>
                    <a:pt x="4064000" y="1067324"/>
                    <a:pt x="4039124" y="1092200"/>
                    <a:pt x="4008438" y="1092200"/>
                  </a:cubicBezTo>
                  <a:lnTo>
                    <a:pt x="55562" y="1092200"/>
                  </a:lnTo>
                  <a:cubicBezTo>
                    <a:pt x="24876" y="1092200"/>
                    <a:pt x="0" y="1067324"/>
                    <a:pt x="0" y="1036638"/>
                  </a:cubicBezTo>
                  <a:lnTo>
                    <a:pt x="0" y="55562"/>
                  </a:lnTo>
                  <a:cubicBezTo>
                    <a:pt x="0" y="24876"/>
                    <a:pt x="24876" y="0"/>
                    <a:pt x="55562" y="0"/>
                  </a:cubicBezTo>
                  <a:close/>
                </a:path>
              </a:pathLst>
            </a:custGeom>
            <a:solidFill>
              <a:srgbClr val="102B46"/>
            </a:solidFill>
            <a:ln w="9525" cap="sq">
              <a:solidFill>
                <a:srgbClr val="20E0FF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9525"/>
              <a:ext cx="4064000" cy="1082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SENSOR FUSION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525500" y="5715000"/>
            <a:ext cx="3048000" cy="819150"/>
            <a:chOff x="0" y="0"/>
            <a:chExt cx="4064000" cy="10922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064000" cy="1092200"/>
            </a:xfrm>
            <a:custGeom>
              <a:avLst/>
              <a:gdLst/>
              <a:ahLst/>
              <a:cxnLst/>
              <a:rect r="r" b="b" t="t" l="l"/>
              <a:pathLst>
                <a:path h="1092200" w="4064000">
                  <a:moveTo>
                    <a:pt x="55562" y="0"/>
                  </a:moveTo>
                  <a:lnTo>
                    <a:pt x="4008438" y="0"/>
                  </a:lnTo>
                  <a:cubicBezTo>
                    <a:pt x="4039124" y="0"/>
                    <a:pt x="4064000" y="24876"/>
                    <a:pt x="4064000" y="55562"/>
                  </a:cubicBezTo>
                  <a:lnTo>
                    <a:pt x="4064000" y="1036638"/>
                  </a:lnTo>
                  <a:cubicBezTo>
                    <a:pt x="4064000" y="1067324"/>
                    <a:pt x="4039124" y="1092200"/>
                    <a:pt x="4008438" y="1092200"/>
                  </a:cubicBezTo>
                  <a:lnTo>
                    <a:pt x="55562" y="1092200"/>
                  </a:lnTo>
                  <a:cubicBezTo>
                    <a:pt x="24876" y="1092200"/>
                    <a:pt x="0" y="1067324"/>
                    <a:pt x="0" y="1036638"/>
                  </a:cubicBezTo>
                  <a:lnTo>
                    <a:pt x="0" y="55562"/>
                  </a:lnTo>
                  <a:cubicBezTo>
                    <a:pt x="0" y="24876"/>
                    <a:pt x="24876" y="0"/>
                    <a:pt x="55562" y="0"/>
                  </a:cubicBezTo>
                  <a:close/>
                </a:path>
              </a:pathLst>
            </a:custGeom>
            <a:solidFill>
              <a:srgbClr val="102B46"/>
            </a:solidFill>
            <a:ln w="9525" cap="sq">
              <a:solidFill>
                <a:srgbClr val="20E0FF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9525"/>
              <a:ext cx="4064000" cy="1082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RISK SCORING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096500" y="6953250"/>
            <a:ext cx="3048000" cy="819150"/>
            <a:chOff x="0" y="0"/>
            <a:chExt cx="4064000" cy="10922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064000" cy="1092200"/>
            </a:xfrm>
            <a:custGeom>
              <a:avLst/>
              <a:gdLst/>
              <a:ahLst/>
              <a:cxnLst/>
              <a:rect r="r" b="b" t="t" l="l"/>
              <a:pathLst>
                <a:path h="1092200" w="4064000">
                  <a:moveTo>
                    <a:pt x="55562" y="0"/>
                  </a:moveTo>
                  <a:lnTo>
                    <a:pt x="4008438" y="0"/>
                  </a:lnTo>
                  <a:cubicBezTo>
                    <a:pt x="4039124" y="0"/>
                    <a:pt x="4064000" y="24876"/>
                    <a:pt x="4064000" y="55562"/>
                  </a:cubicBezTo>
                  <a:lnTo>
                    <a:pt x="4064000" y="1036638"/>
                  </a:lnTo>
                  <a:cubicBezTo>
                    <a:pt x="4064000" y="1067324"/>
                    <a:pt x="4039124" y="1092200"/>
                    <a:pt x="4008438" y="1092200"/>
                  </a:cubicBezTo>
                  <a:lnTo>
                    <a:pt x="55562" y="1092200"/>
                  </a:lnTo>
                  <a:cubicBezTo>
                    <a:pt x="24876" y="1092200"/>
                    <a:pt x="0" y="1067324"/>
                    <a:pt x="0" y="1036638"/>
                  </a:cubicBezTo>
                  <a:lnTo>
                    <a:pt x="0" y="55562"/>
                  </a:lnTo>
                  <a:cubicBezTo>
                    <a:pt x="0" y="24876"/>
                    <a:pt x="24876" y="0"/>
                    <a:pt x="55562" y="0"/>
                  </a:cubicBezTo>
                  <a:close/>
                </a:path>
              </a:pathLst>
            </a:custGeom>
            <a:solidFill>
              <a:srgbClr val="102B46"/>
            </a:solidFill>
            <a:ln w="9525" cap="sq">
              <a:solidFill>
                <a:srgbClr val="20E0FF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9525"/>
              <a:ext cx="4064000" cy="1082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PREDICTION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714500" y="8239125"/>
            <a:ext cx="2857500" cy="857250"/>
            <a:chOff x="0" y="0"/>
            <a:chExt cx="3810000" cy="1143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810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810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1083733"/>
                  </a:lnTo>
                  <a:cubicBezTo>
                    <a:pt x="3810000" y="1116465"/>
                    <a:pt x="3783466" y="1143000"/>
                    <a:pt x="3750733" y="1143000"/>
                  </a:cubicBezTo>
                  <a:lnTo>
                    <a:pt x="59267" y="1143000"/>
                  </a:lnTo>
                  <a:cubicBezTo>
                    <a:pt x="26535" y="1143000"/>
                    <a:pt x="0" y="1116465"/>
                    <a:pt x="0" y="10837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102B46"/>
            </a:solidFill>
            <a:ln w="9525" cap="sq">
              <a:solidFill>
                <a:srgbClr val="20E0FF"/>
              </a:solidFill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9525"/>
              <a:ext cx="3810000" cy="113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GIS / RISK MAP</a:t>
              </a:r>
            </a:p>
          </p:txBody>
        </p:sp>
      </p:grpSp>
      <p:sp>
        <p:nvSpPr>
          <p:cNvPr name="AutoShape 42" id="42"/>
          <p:cNvSpPr/>
          <p:nvPr/>
        </p:nvSpPr>
        <p:spPr>
          <a:xfrm>
            <a:off x="4572000" y="8667750"/>
            <a:ext cx="1143000" cy="0"/>
          </a:xfrm>
          <a:prstGeom prst="line">
            <a:avLst/>
          </a:prstGeom>
          <a:ln cap="rnd" w="28575">
            <a:solidFill>
              <a:srgbClr val="20E0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43" id="43"/>
          <p:cNvGrpSpPr/>
          <p:nvPr/>
        </p:nvGrpSpPr>
        <p:grpSpPr>
          <a:xfrm rot="0">
            <a:off x="5810250" y="8239125"/>
            <a:ext cx="2857500" cy="857250"/>
            <a:chOff x="0" y="0"/>
            <a:chExt cx="3810000" cy="1143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810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810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1083733"/>
                  </a:lnTo>
                  <a:cubicBezTo>
                    <a:pt x="3810000" y="1116465"/>
                    <a:pt x="3783466" y="1143000"/>
                    <a:pt x="3750733" y="1143000"/>
                  </a:cubicBezTo>
                  <a:lnTo>
                    <a:pt x="59267" y="1143000"/>
                  </a:lnTo>
                  <a:cubicBezTo>
                    <a:pt x="26535" y="1143000"/>
                    <a:pt x="0" y="1116465"/>
                    <a:pt x="0" y="10837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102B46"/>
            </a:solidFill>
            <a:ln w="9525" cap="sq">
              <a:solidFill>
                <a:srgbClr val="20E0FF"/>
              </a:solidFill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9525"/>
              <a:ext cx="3810000" cy="113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OPERATOR DASHBOARD</a:t>
              </a:r>
            </a:p>
          </p:txBody>
        </p:sp>
      </p:grpSp>
      <p:sp>
        <p:nvSpPr>
          <p:cNvPr name="AutoShape 46" id="46"/>
          <p:cNvSpPr/>
          <p:nvPr/>
        </p:nvSpPr>
        <p:spPr>
          <a:xfrm>
            <a:off x="8667750" y="8667750"/>
            <a:ext cx="1143000" cy="0"/>
          </a:xfrm>
          <a:prstGeom prst="line">
            <a:avLst/>
          </a:prstGeom>
          <a:ln cap="rnd" w="28575">
            <a:solidFill>
              <a:srgbClr val="20E0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47" id="47"/>
          <p:cNvGrpSpPr/>
          <p:nvPr/>
        </p:nvGrpSpPr>
        <p:grpSpPr>
          <a:xfrm rot="0">
            <a:off x="9906000" y="8239125"/>
            <a:ext cx="2857500" cy="857250"/>
            <a:chOff x="0" y="0"/>
            <a:chExt cx="3810000" cy="11430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810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810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1083733"/>
                  </a:lnTo>
                  <a:cubicBezTo>
                    <a:pt x="3810000" y="1116465"/>
                    <a:pt x="3783466" y="1143000"/>
                    <a:pt x="3750733" y="1143000"/>
                  </a:cubicBezTo>
                  <a:lnTo>
                    <a:pt x="59267" y="1143000"/>
                  </a:lnTo>
                  <a:cubicBezTo>
                    <a:pt x="26535" y="1143000"/>
                    <a:pt x="0" y="1116465"/>
                    <a:pt x="0" y="10837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102B46"/>
            </a:solidFill>
            <a:ln w="9525" cap="sq">
              <a:solidFill>
                <a:srgbClr val="20E0FF"/>
              </a:solidFill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9525"/>
              <a:ext cx="3810000" cy="113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PRIORITIZED ALERT</a:t>
              </a:r>
            </a:p>
          </p:txBody>
        </p:sp>
      </p:grpSp>
      <p:sp>
        <p:nvSpPr>
          <p:cNvPr name="AutoShape 50" id="50"/>
          <p:cNvSpPr/>
          <p:nvPr/>
        </p:nvSpPr>
        <p:spPr>
          <a:xfrm>
            <a:off x="12763500" y="8667750"/>
            <a:ext cx="1143000" cy="0"/>
          </a:xfrm>
          <a:prstGeom prst="line">
            <a:avLst/>
          </a:prstGeom>
          <a:ln cap="rnd" w="28575">
            <a:solidFill>
              <a:srgbClr val="20E0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51" id="51"/>
          <p:cNvGrpSpPr/>
          <p:nvPr/>
        </p:nvGrpSpPr>
        <p:grpSpPr>
          <a:xfrm rot="0">
            <a:off x="14001750" y="8239125"/>
            <a:ext cx="2857500" cy="857250"/>
            <a:chOff x="0" y="0"/>
            <a:chExt cx="3810000" cy="11430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810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3810000">
                  <a:moveTo>
                    <a:pt x="59267" y="0"/>
                  </a:moveTo>
                  <a:lnTo>
                    <a:pt x="3750733" y="0"/>
                  </a:lnTo>
                  <a:cubicBezTo>
                    <a:pt x="3783466" y="0"/>
                    <a:pt x="3810000" y="26535"/>
                    <a:pt x="3810000" y="59267"/>
                  </a:cubicBezTo>
                  <a:lnTo>
                    <a:pt x="3810000" y="1083733"/>
                  </a:lnTo>
                  <a:cubicBezTo>
                    <a:pt x="3810000" y="1116465"/>
                    <a:pt x="3783466" y="1143000"/>
                    <a:pt x="3750733" y="1143000"/>
                  </a:cubicBezTo>
                  <a:lnTo>
                    <a:pt x="59267" y="1143000"/>
                  </a:lnTo>
                  <a:cubicBezTo>
                    <a:pt x="26535" y="1143000"/>
                    <a:pt x="0" y="1116465"/>
                    <a:pt x="0" y="1083733"/>
                  </a:cubicBezTo>
                  <a:lnTo>
                    <a:pt x="0" y="59267"/>
                  </a:lnTo>
                  <a:cubicBezTo>
                    <a:pt x="0" y="26535"/>
                    <a:pt x="26535" y="0"/>
                    <a:pt x="59267" y="0"/>
                  </a:cubicBezTo>
                  <a:close/>
                </a:path>
              </a:pathLst>
            </a:custGeom>
            <a:solidFill>
              <a:srgbClr val="102B46"/>
            </a:solidFill>
            <a:ln w="9525" cap="sq">
              <a:solidFill>
                <a:srgbClr val="20E0FF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9525"/>
              <a:ext cx="3810000" cy="1133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ACTION</a:t>
              </a:r>
            </a:p>
          </p:txBody>
        </p:sp>
      </p:grpSp>
      <p:sp>
        <p:nvSpPr>
          <p:cNvPr name="AutoShape 54" id="54"/>
          <p:cNvSpPr/>
          <p:nvPr/>
        </p:nvSpPr>
        <p:spPr>
          <a:xfrm>
            <a:off x="12858750" y="4000500"/>
            <a:ext cx="0" cy="381000"/>
          </a:xfrm>
          <a:prstGeom prst="line">
            <a:avLst/>
          </a:prstGeom>
          <a:ln cap="rnd" w="28575">
            <a:solidFill>
              <a:srgbClr val="20E0FF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55" id="55"/>
          <p:cNvSpPr/>
          <p:nvPr/>
        </p:nvSpPr>
        <p:spPr>
          <a:xfrm>
            <a:off x="12858750" y="7810500"/>
            <a:ext cx="0" cy="333375"/>
          </a:xfrm>
          <a:prstGeom prst="line">
            <a:avLst/>
          </a:prstGeom>
          <a:ln cap="rnd" w="28575">
            <a:solidFill>
              <a:srgbClr val="20E0FF"/>
            </a:solidFill>
            <a:prstDash val="solid"/>
            <a:headEnd type="none" len="sm" w="sm"/>
            <a:tailEnd type="arrow" len="sm" w="med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33400"/>
            <a:ext cx="14287500" cy="1432560"/>
            <a:chOff x="0" y="0"/>
            <a:chExt cx="19050000" cy="19100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762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89" b="true">
                  <a:solidFill>
                    <a:srgbClr val="20E0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FLOWGEN  /  07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254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F4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From Detection to Decision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520825"/>
              <a:ext cx="17780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9DB5C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Reserved for verified project UI — no fabricated screenshots.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66675"/>
            <a:chOff x="0" y="0"/>
            <a:chExt cx="24384000" cy="88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88900"/>
            </a:xfrm>
            <a:custGeom>
              <a:avLst/>
              <a:gdLst/>
              <a:ahLst/>
              <a:cxnLst/>
              <a:rect r="r" b="b" t="t" l="l"/>
              <a:pathLst>
                <a:path h="889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20E0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384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57250" y="2857500"/>
            <a:ext cx="7810500" cy="2333625"/>
            <a:chOff x="0" y="0"/>
            <a:chExt cx="10414000" cy="311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14000" cy="3111500"/>
            </a:xfrm>
            <a:custGeom>
              <a:avLst/>
              <a:gdLst/>
              <a:ahLst/>
              <a:cxnLst/>
              <a:rect r="r" b="b" t="t" l="l"/>
              <a:pathLst>
                <a:path h="31115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3111500"/>
                  </a:lnTo>
                  <a:lnTo>
                    <a:pt x="0" y="3111500"/>
                  </a:lnTo>
                  <a:close/>
                </a:path>
              </a:pathLst>
            </a:custGeom>
            <a:solidFill>
              <a:srgbClr val="0D2036"/>
            </a:solidFill>
            <a:ln w="19050" cap="sq">
              <a:solidFill>
                <a:srgbClr val="24516D"/>
              </a:solidFill>
              <a:prstDash val="lgDash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414000" cy="3149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334500" y="2857500"/>
            <a:ext cx="7810500" cy="2333625"/>
            <a:chOff x="0" y="0"/>
            <a:chExt cx="10414000" cy="3111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14000" cy="3111500"/>
            </a:xfrm>
            <a:custGeom>
              <a:avLst/>
              <a:gdLst/>
              <a:ahLst/>
              <a:cxnLst/>
              <a:rect r="r" b="b" t="t" l="l"/>
              <a:pathLst>
                <a:path h="31115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3111500"/>
                  </a:lnTo>
                  <a:lnTo>
                    <a:pt x="0" y="3111500"/>
                  </a:lnTo>
                  <a:close/>
                </a:path>
              </a:pathLst>
            </a:custGeom>
            <a:solidFill>
              <a:srgbClr val="0D2036"/>
            </a:solidFill>
            <a:ln w="19050" cap="sq">
              <a:solidFill>
                <a:srgbClr val="24516D"/>
              </a:solidFill>
              <a:prstDash val="lgDash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0414000" cy="3149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857250" y="5715000"/>
            <a:ext cx="7810500" cy="2333625"/>
            <a:chOff x="0" y="0"/>
            <a:chExt cx="10414000" cy="3111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14000" cy="3111500"/>
            </a:xfrm>
            <a:custGeom>
              <a:avLst/>
              <a:gdLst/>
              <a:ahLst/>
              <a:cxnLst/>
              <a:rect r="r" b="b" t="t" l="l"/>
              <a:pathLst>
                <a:path h="31115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3111500"/>
                  </a:lnTo>
                  <a:lnTo>
                    <a:pt x="0" y="3111500"/>
                  </a:lnTo>
                  <a:close/>
                </a:path>
              </a:pathLst>
            </a:custGeom>
            <a:solidFill>
              <a:srgbClr val="0D2036"/>
            </a:solidFill>
            <a:ln w="19050" cap="sq">
              <a:solidFill>
                <a:srgbClr val="24516D"/>
              </a:solidFill>
              <a:prstDash val="lgDash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414000" cy="3149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34500" y="5715000"/>
            <a:ext cx="7810500" cy="2333625"/>
            <a:chOff x="0" y="0"/>
            <a:chExt cx="10414000" cy="3111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414000" cy="3111500"/>
            </a:xfrm>
            <a:custGeom>
              <a:avLst/>
              <a:gdLst/>
              <a:ahLst/>
              <a:cxnLst/>
              <a:rect r="r" b="b" t="t" l="l"/>
              <a:pathLst>
                <a:path h="3111500" w="10414000">
                  <a:moveTo>
                    <a:pt x="0" y="0"/>
                  </a:moveTo>
                  <a:lnTo>
                    <a:pt x="10414000" y="0"/>
                  </a:lnTo>
                  <a:lnTo>
                    <a:pt x="10414000" y="3111500"/>
                  </a:lnTo>
                  <a:lnTo>
                    <a:pt x="0" y="3111500"/>
                  </a:lnTo>
                  <a:close/>
                </a:path>
              </a:pathLst>
            </a:custGeom>
            <a:solidFill>
              <a:srgbClr val="0D2036"/>
            </a:solidFill>
            <a:ln w="19050" cap="sq">
              <a:solidFill>
                <a:srgbClr val="24516D"/>
              </a:solidFill>
              <a:prstDash val="lgDash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0414000" cy="3149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143000" y="3724275"/>
            <a:ext cx="7239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 spc="252">
                <a:solidFill>
                  <a:srgbClr val="20E0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01  DASHBOARD / NETWORK OVERVIEW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20250" y="3724275"/>
            <a:ext cx="7239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 spc="252">
                <a:solidFill>
                  <a:srgbClr val="20E0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02  INCIDENT / ANOMALY DETECTION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43000" y="6581775"/>
            <a:ext cx="7239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 spc="252">
                <a:solidFill>
                  <a:srgbClr val="20E0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03  GIS / RISK VISUALIZATION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20250" y="6581775"/>
            <a:ext cx="72390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b="true" sz="1800" spc="252">
                <a:solidFill>
                  <a:srgbClr val="20E0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04  ALERT / RECOMMENDATION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476500" y="8982075"/>
            <a:ext cx="13335000" cy="28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5"/>
              </a:lnSpc>
            </a:pPr>
            <a:r>
              <a:rPr lang="en-US" sz="2100" b="true">
                <a:solidFill>
                  <a:srgbClr val="F4FB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DETECT  →  UNDERSTAND  →  LOCATE  →  PRIORITIZE  →  ACT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33400"/>
            <a:ext cx="14287500" cy="1073468"/>
            <a:chOff x="0" y="0"/>
            <a:chExt cx="19050000" cy="14312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762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89" b="true">
                  <a:solidFill>
                    <a:srgbClr val="20E0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FLOWGEN  /  08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254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F4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IBM Powers the Intelligence Layer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66675"/>
            <a:chOff x="0" y="0"/>
            <a:chExt cx="24384000" cy="88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88900"/>
            </a:xfrm>
            <a:custGeom>
              <a:avLst/>
              <a:gdLst/>
              <a:ahLst/>
              <a:cxnLst/>
              <a:rect r="r" b="b" t="t" l="l"/>
              <a:pathLst>
                <a:path h="889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20E0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57250" y="4286250"/>
            <a:ext cx="2667000" cy="1143000"/>
            <a:chOff x="0" y="0"/>
            <a:chExt cx="3556000" cy="1524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56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556000">
                  <a:moveTo>
                    <a:pt x="63500" y="0"/>
                  </a:moveTo>
                  <a:lnTo>
                    <a:pt x="3492500" y="0"/>
                  </a:lnTo>
                  <a:cubicBezTo>
                    <a:pt x="3527570" y="0"/>
                    <a:pt x="3556000" y="28430"/>
                    <a:pt x="3556000" y="63500"/>
                  </a:cubicBezTo>
                  <a:lnTo>
                    <a:pt x="3556000" y="1460500"/>
                  </a:lnTo>
                  <a:cubicBezTo>
                    <a:pt x="3556000" y="1495570"/>
                    <a:pt x="3527570" y="1524000"/>
                    <a:pt x="3492500" y="1524000"/>
                  </a:cubicBezTo>
                  <a:lnTo>
                    <a:pt x="63500" y="1524000"/>
                  </a:lnTo>
                  <a:cubicBezTo>
                    <a:pt x="28430" y="1524000"/>
                    <a:pt x="0" y="1495570"/>
                    <a:pt x="0" y="1460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287CFF"/>
            </a:solidFill>
            <a:ln w="9525" cap="sq">
              <a:solidFill>
                <a:srgbClr val="20E0F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35560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FLOWGEN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SENSOR + NETWORK DATA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3524250" y="4857750"/>
            <a:ext cx="1333500" cy="0"/>
          </a:xfrm>
          <a:prstGeom prst="line">
            <a:avLst/>
          </a:prstGeom>
          <a:ln cap="rnd" w="28575">
            <a:solidFill>
              <a:srgbClr val="20E0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2" id="12"/>
          <p:cNvGrpSpPr/>
          <p:nvPr/>
        </p:nvGrpSpPr>
        <p:grpSpPr>
          <a:xfrm rot="0">
            <a:off x="4857750" y="3714750"/>
            <a:ext cx="2143125" cy="1381125"/>
            <a:chOff x="0" y="0"/>
            <a:chExt cx="2857500" cy="1841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8575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2857500">
                  <a:moveTo>
                    <a:pt x="79022" y="0"/>
                  </a:moveTo>
                  <a:lnTo>
                    <a:pt x="2778478" y="0"/>
                  </a:lnTo>
                  <a:cubicBezTo>
                    <a:pt x="2799436" y="0"/>
                    <a:pt x="2819535" y="8326"/>
                    <a:pt x="2834355" y="23145"/>
                  </a:cubicBezTo>
                  <a:cubicBezTo>
                    <a:pt x="2849175" y="37965"/>
                    <a:pt x="2857500" y="58064"/>
                    <a:pt x="2857500" y="79022"/>
                  </a:cubicBezTo>
                  <a:lnTo>
                    <a:pt x="2857500" y="1762478"/>
                  </a:lnTo>
                  <a:cubicBezTo>
                    <a:pt x="2857500" y="1783436"/>
                    <a:pt x="2849175" y="1803535"/>
                    <a:pt x="2834355" y="1818355"/>
                  </a:cubicBezTo>
                  <a:cubicBezTo>
                    <a:pt x="2819535" y="1833175"/>
                    <a:pt x="2799436" y="1841500"/>
                    <a:pt x="2778478" y="1841500"/>
                  </a:cubicBezTo>
                  <a:lnTo>
                    <a:pt x="79022" y="1841500"/>
                  </a:lnTo>
                  <a:cubicBezTo>
                    <a:pt x="58064" y="1841500"/>
                    <a:pt x="37965" y="1833175"/>
                    <a:pt x="23145" y="1818355"/>
                  </a:cubicBezTo>
                  <a:cubicBezTo>
                    <a:pt x="8326" y="1803535"/>
                    <a:pt x="0" y="1783436"/>
                    <a:pt x="0" y="1762478"/>
                  </a:cubicBezTo>
                  <a:lnTo>
                    <a:pt x="0" y="79022"/>
                  </a:lnTo>
                  <a:cubicBezTo>
                    <a:pt x="0" y="58064"/>
                    <a:pt x="8326" y="37965"/>
                    <a:pt x="23145" y="23145"/>
                  </a:cubicBezTo>
                  <a:cubicBezTo>
                    <a:pt x="37965" y="8326"/>
                    <a:pt x="58064" y="0"/>
                    <a:pt x="79022" y="0"/>
                  </a:cubicBezTo>
                  <a:close/>
                </a:path>
              </a:pathLst>
            </a:custGeom>
            <a:solidFill>
              <a:srgbClr val="102B46"/>
            </a:solidFill>
            <a:ln w="9525" cap="sq">
              <a:solidFill>
                <a:srgbClr val="20E0F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2857500" cy="183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watsonx.ai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AI analysis / intelligence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7000875" y="4400550"/>
            <a:ext cx="285750" cy="2095500"/>
          </a:xfrm>
          <a:prstGeom prst="line">
            <a:avLst/>
          </a:prstGeom>
          <a:ln cap="rnd" w="28575">
            <a:solidFill>
              <a:srgbClr val="20E0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16" id="16"/>
          <p:cNvGrpSpPr/>
          <p:nvPr/>
        </p:nvGrpSpPr>
        <p:grpSpPr>
          <a:xfrm rot="0">
            <a:off x="7381875" y="5810250"/>
            <a:ext cx="2143125" cy="1381125"/>
            <a:chOff x="0" y="0"/>
            <a:chExt cx="2857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8575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2857500">
                  <a:moveTo>
                    <a:pt x="79022" y="0"/>
                  </a:moveTo>
                  <a:lnTo>
                    <a:pt x="2778478" y="0"/>
                  </a:lnTo>
                  <a:cubicBezTo>
                    <a:pt x="2799436" y="0"/>
                    <a:pt x="2819535" y="8326"/>
                    <a:pt x="2834355" y="23145"/>
                  </a:cubicBezTo>
                  <a:cubicBezTo>
                    <a:pt x="2849175" y="37965"/>
                    <a:pt x="2857500" y="58064"/>
                    <a:pt x="2857500" y="79022"/>
                  </a:cubicBezTo>
                  <a:lnTo>
                    <a:pt x="2857500" y="1762478"/>
                  </a:lnTo>
                  <a:cubicBezTo>
                    <a:pt x="2857500" y="1783436"/>
                    <a:pt x="2849175" y="1803535"/>
                    <a:pt x="2834355" y="1818355"/>
                  </a:cubicBezTo>
                  <a:cubicBezTo>
                    <a:pt x="2819535" y="1833175"/>
                    <a:pt x="2799436" y="1841500"/>
                    <a:pt x="2778478" y="1841500"/>
                  </a:cubicBezTo>
                  <a:lnTo>
                    <a:pt x="79022" y="1841500"/>
                  </a:lnTo>
                  <a:cubicBezTo>
                    <a:pt x="58064" y="1841500"/>
                    <a:pt x="37965" y="1833175"/>
                    <a:pt x="23145" y="1818355"/>
                  </a:cubicBezTo>
                  <a:cubicBezTo>
                    <a:pt x="8326" y="1803535"/>
                    <a:pt x="0" y="1783436"/>
                    <a:pt x="0" y="1762478"/>
                  </a:cubicBezTo>
                  <a:lnTo>
                    <a:pt x="0" y="79022"/>
                  </a:lnTo>
                  <a:cubicBezTo>
                    <a:pt x="0" y="58064"/>
                    <a:pt x="8326" y="37965"/>
                    <a:pt x="23145" y="23145"/>
                  </a:cubicBezTo>
                  <a:cubicBezTo>
                    <a:pt x="37965" y="8326"/>
                    <a:pt x="58064" y="0"/>
                    <a:pt x="79022" y="0"/>
                  </a:cubicBezTo>
                  <a:close/>
                </a:path>
              </a:pathLst>
            </a:custGeom>
            <a:solidFill>
              <a:srgbClr val="102B46"/>
            </a:solidFill>
            <a:ln w="9525" cap="sq">
              <a:solidFill>
                <a:srgbClr val="20E0FF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9525"/>
              <a:ext cx="2857500" cy="183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IBM Bob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AI-assisted interaction + workflow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flipV="true">
            <a:off x="9525000" y="4400550"/>
            <a:ext cx="285750" cy="2095500"/>
          </a:xfrm>
          <a:prstGeom prst="line">
            <a:avLst/>
          </a:prstGeom>
          <a:ln cap="rnd" w="28575">
            <a:solidFill>
              <a:srgbClr val="20E0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0" id="20"/>
          <p:cNvGrpSpPr/>
          <p:nvPr/>
        </p:nvGrpSpPr>
        <p:grpSpPr>
          <a:xfrm rot="0">
            <a:off x="9906000" y="3714750"/>
            <a:ext cx="2143125" cy="1381125"/>
            <a:chOff x="0" y="0"/>
            <a:chExt cx="2857500" cy="18415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8575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2857500">
                  <a:moveTo>
                    <a:pt x="79022" y="0"/>
                  </a:moveTo>
                  <a:lnTo>
                    <a:pt x="2778478" y="0"/>
                  </a:lnTo>
                  <a:cubicBezTo>
                    <a:pt x="2799436" y="0"/>
                    <a:pt x="2819535" y="8326"/>
                    <a:pt x="2834355" y="23145"/>
                  </a:cubicBezTo>
                  <a:cubicBezTo>
                    <a:pt x="2849175" y="37965"/>
                    <a:pt x="2857500" y="58064"/>
                    <a:pt x="2857500" y="79022"/>
                  </a:cubicBezTo>
                  <a:lnTo>
                    <a:pt x="2857500" y="1762478"/>
                  </a:lnTo>
                  <a:cubicBezTo>
                    <a:pt x="2857500" y="1783436"/>
                    <a:pt x="2849175" y="1803535"/>
                    <a:pt x="2834355" y="1818355"/>
                  </a:cubicBezTo>
                  <a:cubicBezTo>
                    <a:pt x="2819535" y="1833175"/>
                    <a:pt x="2799436" y="1841500"/>
                    <a:pt x="2778478" y="1841500"/>
                  </a:cubicBezTo>
                  <a:lnTo>
                    <a:pt x="79022" y="1841500"/>
                  </a:lnTo>
                  <a:cubicBezTo>
                    <a:pt x="58064" y="1841500"/>
                    <a:pt x="37965" y="1833175"/>
                    <a:pt x="23145" y="1818355"/>
                  </a:cubicBezTo>
                  <a:cubicBezTo>
                    <a:pt x="8326" y="1803535"/>
                    <a:pt x="0" y="1783436"/>
                    <a:pt x="0" y="1762478"/>
                  </a:cubicBezTo>
                  <a:lnTo>
                    <a:pt x="0" y="79022"/>
                  </a:lnTo>
                  <a:cubicBezTo>
                    <a:pt x="0" y="58064"/>
                    <a:pt x="8326" y="37965"/>
                    <a:pt x="23145" y="23145"/>
                  </a:cubicBezTo>
                  <a:cubicBezTo>
                    <a:pt x="37965" y="8326"/>
                    <a:pt x="58064" y="0"/>
                    <a:pt x="79022" y="0"/>
                  </a:cubicBezTo>
                  <a:close/>
                </a:path>
              </a:pathLst>
            </a:custGeom>
            <a:solidFill>
              <a:srgbClr val="102B46"/>
            </a:solidFill>
            <a:ln w="9525" cap="sq">
              <a:solidFill>
                <a:srgbClr val="20E0FF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9525"/>
              <a:ext cx="2857500" cy="183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IBM App Connect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Data / service integration</a:t>
              </a: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2049125" y="4400550"/>
            <a:ext cx="285750" cy="2095500"/>
          </a:xfrm>
          <a:prstGeom prst="line">
            <a:avLst/>
          </a:prstGeom>
          <a:ln cap="rnd" w="28575">
            <a:solidFill>
              <a:srgbClr val="20E0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4" id="24"/>
          <p:cNvGrpSpPr/>
          <p:nvPr/>
        </p:nvGrpSpPr>
        <p:grpSpPr>
          <a:xfrm rot="0">
            <a:off x="12430125" y="5810250"/>
            <a:ext cx="2143125" cy="1381125"/>
            <a:chOff x="0" y="0"/>
            <a:chExt cx="2857500" cy="18415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8575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2857500">
                  <a:moveTo>
                    <a:pt x="79022" y="0"/>
                  </a:moveTo>
                  <a:lnTo>
                    <a:pt x="2778478" y="0"/>
                  </a:lnTo>
                  <a:cubicBezTo>
                    <a:pt x="2799436" y="0"/>
                    <a:pt x="2819535" y="8326"/>
                    <a:pt x="2834355" y="23145"/>
                  </a:cubicBezTo>
                  <a:cubicBezTo>
                    <a:pt x="2849175" y="37965"/>
                    <a:pt x="2857500" y="58064"/>
                    <a:pt x="2857500" y="79022"/>
                  </a:cubicBezTo>
                  <a:lnTo>
                    <a:pt x="2857500" y="1762478"/>
                  </a:lnTo>
                  <a:cubicBezTo>
                    <a:pt x="2857500" y="1783436"/>
                    <a:pt x="2849175" y="1803535"/>
                    <a:pt x="2834355" y="1818355"/>
                  </a:cubicBezTo>
                  <a:cubicBezTo>
                    <a:pt x="2819535" y="1833175"/>
                    <a:pt x="2799436" y="1841500"/>
                    <a:pt x="2778478" y="1841500"/>
                  </a:cubicBezTo>
                  <a:lnTo>
                    <a:pt x="79022" y="1841500"/>
                  </a:lnTo>
                  <a:cubicBezTo>
                    <a:pt x="58064" y="1841500"/>
                    <a:pt x="37965" y="1833175"/>
                    <a:pt x="23145" y="1818355"/>
                  </a:cubicBezTo>
                  <a:cubicBezTo>
                    <a:pt x="8326" y="1803535"/>
                    <a:pt x="0" y="1783436"/>
                    <a:pt x="0" y="1762478"/>
                  </a:cubicBezTo>
                  <a:lnTo>
                    <a:pt x="0" y="79022"/>
                  </a:lnTo>
                  <a:cubicBezTo>
                    <a:pt x="0" y="58064"/>
                    <a:pt x="8326" y="37965"/>
                    <a:pt x="23145" y="23145"/>
                  </a:cubicBezTo>
                  <a:cubicBezTo>
                    <a:pt x="37965" y="8326"/>
                    <a:pt x="58064" y="0"/>
                    <a:pt x="79022" y="0"/>
                  </a:cubicBezTo>
                  <a:close/>
                </a:path>
              </a:pathLst>
            </a:custGeom>
            <a:solidFill>
              <a:srgbClr val="102B46"/>
            </a:solidFill>
            <a:ln w="9525" cap="sq">
              <a:solidFill>
                <a:srgbClr val="20E0FF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9525"/>
              <a:ext cx="2857500" cy="183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IBM Instana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Application monitoring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 flipV="true">
            <a:off x="14573250" y="4400550"/>
            <a:ext cx="285750" cy="2095500"/>
          </a:xfrm>
          <a:prstGeom prst="line">
            <a:avLst/>
          </a:prstGeom>
          <a:ln cap="rnd" w="28575">
            <a:solidFill>
              <a:srgbClr val="20E0FF"/>
            </a:solidFill>
            <a:prstDash val="solid"/>
            <a:headEnd type="none" len="sm" w="sm"/>
            <a:tailEnd type="arrow" len="sm" w="med"/>
          </a:ln>
        </p:spPr>
      </p:sp>
      <p:grpSp>
        <p:nvGrpSpPr>
          <p:cNvPr name="Group 28" id="28"/>
          <p:cNvGrpSpPr/>
          <p:nvPr/>
        </p:nvGrpSpPr>
        <p:grpSpPr>
          <a:xfrm rot="0">
            <a:off x="14859000" y="2711121"/>
            <a:ext cx="2143125" cy="1381125"/>
            <a:chOff x="0" y="0"/>
            <a:chExt cx="2857500" cy="1841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8575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2857500">
                  <a:moveTo>
                    <a:pt x="79022" y="0"/>
                  </a:moveTo>
                  <a:lnTo>
                    <a:pt x="2778478" y="0"/>
                  </a:lnTo>
                  <a:cubicBezTo>
                    <a:pt x="2799436" y="0"/>
                    <a:pt x="2819535" y="8326"/>
                    <a:pt x="2834355" y="23145"/>
                  </a:cubicBezTo>
                  <a:cubicBezTo>
                    <a:pt x="2849175" y="37965"/>
                    <a:pt x="2857500" y="58064"/>
                    <a:pt x="2857500" y="79022"/>
                  </a:cubicBezTo>
                  <a:lnTo>
                    <a:pt x="2857500" y="1762478"/>
                  </a:lnTo>
                  <a:cubicBezTo>
                    <a:pt x="2857500" y="1783436"/>
                    <a:pt x="2849175" y="1803535"/>
                    <a:pt x="2834355" y="1818355"/>
                  </a:cubicBezTo>
                  <a:cubicBezTo>
                    <a:pt x="2819535" y="1833175"/>
                    <a:pt x="2799436" y="1841500"/>
                    <a:pt x="2778478" y="1841500"/>
                  </a:cubicBezTo>
                  <a:lnTo>
                    <a:pt x="79022" y="1841500"/>
                  </a:lnTo>
                  <a:cubicBezTo>
                    <a:pt x="58064" y="1841500"/>
                    <a:pt x="37965" y="1833175"/>
                    <a:pt x="23145" y="1818355"/>
                  </a:cubicBezTo>
                  <a:cubicBezTo>
                    <a:pt x="8326" y="1803535"/>
                    <a:pt x="0" y="1783436"/>
                    <a:pt x="0" y="1762478"/>
                  </a:cubicBezTo>
                  <a:lnTo>
                    <a:pt x="0" y="79022"/>
                  </a:lnTo>
                  <a:cubicBezTo>
                    <a:pt x="0" y="58064"/>
                    <a:pt x="8326" y="37965"/>
                    <a:pt x="23145" y="23145"/>
                  </a:cubicBezTo>
                  <a:cubicBezTo>
                    <a:pt x="37965" y="8326"/>
                    <a:pt x="58064" y="0"/>
                    <a:pt x="79022" y="0"/>
                  </a:cubicBezTo>
                  <a:close/>
                </a:path>
              </a:pathLst>
            </a:custGeom>
            <a:solidFill>
              <a:srgbClr val="102B46"/>
            </a:solidFill>
            <a:ln w="9525" cap="sq">
              <a:solidFill>
                <a:srgbClr val="20E0FF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9525"/>
              <a:ext cx="2857500" cy="1831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IBM Cloud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Cloud infrastructure + scalable services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763750" y="4286250"/>
            <a:ext cx="2667000" cy="1143000"/>
            <a:chOff x="0" y="0"/>
            <a:chExt cx="3556000" cy="1524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556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556000">
                  <a:moveTo>
                    <a:pt x="63500" y="0"/>
                  </a:moveTo>
                  <a:lnTo>
                    <a:pt x="3492500" y="0"/>
                  </a:lnTo>
                  <a:cubicBezTo>
                    <a:pt x="3527570" y="0"/>
                    <a:pt x="3556000" y="28430"/>
                    <a:pt x="3556000" y="63500"/>
                  </a:cubicBezTo>
                  <a:lnTo>
                    <a:pt x="3556000" y="1460500"/>
                  </a:lnTo>
                  <a:cubicBezTo>
                    <a:pt x="3556000" y="1495570"/>
                    <a:pt x="3527570" y="1524000"/>
                    <a:pt x="3492500" y="1524000"/>
                  </a:cubicBezTo>
                  <a:lnTo>
                    <a:pt x="63500" y="1524000"/>
                  </a:lnTo>
                  <a:cubicBezTo>
                    <a:pt x="28430" y="1524000"/>
                    <a:pt x="0" y="1495570"/>
                    <a:pt x="0" y="1460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287CFF"/>
            </a:solidFill>
            <a:ln w="9525" cap="sq">
              <a:solidFill>
                <a:srgbClr val="20E0FF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9525"/>
              <a:ext cx="3556000" cy="1514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OPERATOR</a:t>
              </a:r>
            </a:p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4FB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INTELLIGENCE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286500" y="8058150"/>
            <a:ext cx="57150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b="true" sz="1650" spc="231">
                <a:solidFill>
                  <a:srgbClr val="20E0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Confirmed implementation roles only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58000" y="0"/>
            <a:ext cx="11430000" cy="10287000"/>
          </a:xfrm>
          <a:custGeom>
            <a:avLst/>
            <a:gdLst/>
            <a:ahLst/>
            <a:cxnLst/>
            <a:rect r="r" b="b" t="t" l="l"/>
            <a:pathLst>
              <a:path h="10287000" w="11430000">
                <a:moveTo>
                  <a:pt x="0" y="0"/>
                </a:moveTo>
                <a:lnTo>
                  <a:pt x="11430000" y="0"/>
                </a:lnTo>
                <a:lnTo>
                  <a:pt x="11430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000" t="0" r="-3000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5524500" y="0"/>
            <a:ext cx="5238750" cy="10287000"/>
            <a:chOff x="0" y="0"/>
            <a:chExt cx="6985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985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6985000">
                  <a:moveTo>
                    <a:pt x="0" y="0"/>
                  </a:moveTo>
                  <a:lnTo>
                    <a:pt x="6985000" y="0"/>
                  </a:lnTo>
                  <a:lnTo>
                    <a:pt x="6985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1426">
                <a:alpha val="74902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985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533400"/>
            <a:ext cx="14287500" cy="1073468"/>
            <a:chOff x="0" y="0"/>
            <a:chExt cx="19050000" cy="143129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28575"/>
              <a:ext cx="762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89" b="true">
                  <a:solidFill>
                    <a:srgbClr val="20E0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FLOWGEN  /  09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6254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F4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Flowgen in a City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0" y="0"/>
            <a:ext cx="18288000" cy="66675"/>
            <a:chOff x="0" y="0"/>
            <a:chExt cx="24384000" cy="889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88900"/>
            </a:xfrm>
            <a:custGeom>
              <a:avLst/>
              <a:gdLst/>
              <a:ahLst/>
              <a:cxnLst/>
              <a:rect r="r" b="b" t="t" l="l"/>
              <a:pathLst>
                <a:path h="889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20E0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4384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52500" y="2847975"/>
            <a:ext cx="581025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1  DETECT  unusual sensor behavior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2500" y="3686175"/>
            <a:ext cx="581025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2  CORRELATE  multiple signals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2500" y="4524375"/>
            <a:ext cx="581025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3  ANALYZE  incident pattern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2500" y="5400675"/>
            <a:ext cx="5810250" cy="254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1875" b="true">
                <a:solidFill>
                  <a:srgbClr val="F4FB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  LOCATE  geographic zone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2500" y="6200775"/>
            <a:ext cx="581025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5  ASSESS RISK  downstream areas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52500" y="7038975"/>
            <a:ext cx="581025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6  ALERT  prioritized warning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2500" y="7877175"/>
            <a:ext cx="5810250" cy="2905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875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7  RESPOND  faster intervention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33400"/>
            <a:ext cx="14287500" cy="1432560"/>
            <a:chOff x="0" y="0"/>
            <a:chExt cx="19050000" cy="191008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762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89" b="true">
                  <a:solidFill>
                    <a:srgbClr val="20E0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FLOWGEN  /  10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254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F4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Turning Water Data Into Real-World Impact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520825"/>
              <a:ext cx="17780000" cy="3892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30"/>
                </a:lnSpc>
              </a:pPr>
              <a:r>
                <a:rPr lang="en-US" sz="1800">
                  <a:solidFill>
                    <a:srgbClr val="9DB5C8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Prototype capabilities and responsible future value — without unverified guarantees.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66675"/>
            <a:chOff x="0" y="0"/>
            <a:chExt cx="24384000" cy="88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84000" cy="88900"/>
            </a:xfrm>
            <a:custGeom>
              <a:avLst/>
              <a:gdLst/>
              <a:ahLst/>
              <a:cxnLst/>
              <a:rect r="r" b="b" t="t" l="l"/>
              <a:pathLst>
                <a:path h="889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20E0FF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4384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57250" y="2952750"/>
            <a:ext cx="5143500" cy="2428875"/>
            <a:chOff x="0" y="0"/>
            <a:chExt cx="6858000" cy="32385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6858000" cy="3238500"/>
              <a:chOff x="0" y="0"/>
              <a:chExt cx="6858000" cy="32385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6858000" cy="3238500"/>
              </a:xfrm>
              <a:custGeom>
                <a:avLst/>
                <a:gdLst/>
                <a:ahLst/>
                <a:cxnLst/>
                <a:rect r="r" b="b" t="t" l="l"/>
                <a:pathLst>
                  <a:path h="32385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238500"/>
                    </a:lnTo>
                    <a:lnTo>
                      <a:pt x="0" y="3238500"/>
                    </a:lnTo>
                    <a:close/>
                  </a:path>
                </a:pathLst>
              </a:custGeom>
              <a:solidFill>
                <a:srgbClr val="102B4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6858000" cy="327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0" y="0"/>
              <a:ext cx="101600" cy="3238500"/>
              <a:chOff x="0" y="0"/>
              <a:chExt cx="101600" cy="32385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1600" cy="3238500"/>
              </a:xfrm>
              <a:custGeom>
                <a:avLst/>
                <a:gdLst/>
                <a:ahLst/>
                <a:cxnLst/>
                <a:rect r="r" b="b" t="t" l="l"/>
                <a:pathLst>
                  <a:path h="32385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3238500"/>
                    </a:lnTo>
                    <a:lnTo>
                      <a:pt x="0" y="3238500"/>
                    </a:lnTo>
                    <a:close/>
                  </a:path>
                </a:pathLst>
              </a:custGeom>
              <a:solidFill>
                <a:srgbClr val="20E0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01600" cy="327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444500" y="533400"/>
              <a:ext cx="635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231" b="true">
                  <a:solidFill>
                    <a:srgbClr val="20E0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REDUCE AVOIDABLE WATER LOSS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444500" y="1314450"/>
              <a:ext cx="6350000" cy="971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en-US" sz="2250">
                  <a:solidFill>
                    <a:srgbClr val="F4FB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Earlier identification of pipeline incidents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572250" y="2952750"/>
            <a:ext cx="5143500" cy="2428875"/>
            <a:chOff x="0" y="0"/>
            <a:chExt cx="6858000" cy="32385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6858000" cy="3238500"/>
              <a:chOff x="0" y="0"/>
              <a:chExt cx="6858000" cy="32385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858000" cy="3238500"/>
              </a:xfrm>
              <a:custGeom>
                <a:avLst/>
                <a:gdLst/>
                <a:ahLst/>
                <a:cxnLst/>
                <a:rect r="r" b="b" t="t" l="l"/>
                <a:pathLst>
                  <a:path h="32385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238500"/>
                    </a:lnTo>
                    <a:lnTo>
                      <a:pt x="0" y="3238500"/>
                    </a:lnTo>
                    <a:close/>
                  </a:path>
                </a:pathLst>
              </a:custGeom>
              <a:solidFill>
                <a:srgbClr val="0D203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6858000" cy="327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0" y="0"/>
              <a:ext cx="101600" cy="3238500"/>
              <a:chOff x="0" y="0"/>
              <a:chExt cx="101600" cy="32385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1600" cy="3238500"/>
              </a:xfrm>
              <a:custGeom>
                <a:avLst/>
                <a:gdLst/>
                <a:ahLst/>
                <a:cxnLst/>
                <a:rect r="r" b="b" t="t" l="l"/>
                <a:pathLst>
                  <a:path h="32385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3238500"/>
                    </a:lnTo>
                    <a:lnTo>
                      <a:pt x="0" y="3238500"/>
                    </a:lnTo>
                    <a:close/>
                  </a:path>
                </a:pathLst>
              </a:custGeom>
              <a:solidFill>
                <a:srgbClr val="20E0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101600" cy="327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44500" y="533400"/>
              <a:ext cx="635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231" b="true">
                  <a:solidFill>
                    <a:srgbClr val="20E0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FASTER AWARENESS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44500" y="1314450"/>
              <a:ext cx="6350000" cy="971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en-US" sz="2250">
                  <a:solidFill>
                    <a:srgbClr val="F4FB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Continuous signals support earlier warning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287250" y="2952750"/>
            <a:ext cx="5143500" cy="2428875"/>
            <a:chOff x="0" y="0"/>
            <a:chExt cx="6858000" cy="32385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6858000" cy="3238500"/>
              <a:chOff x="0" y="0"/>
              <a:chExt cx="6858000" cy="32385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6858000" cy="3238500"/>
              </a:xfrm>
              <a:custGeom>
                <a:avLst/>
                <a:gdLst/>
                <a:ahLst/>
                <a:cxnLst/>
                <a:rect r="r" b="b" t="t" l="l"/>
                <a:pathLst>
                  <a:path h="32385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238500"/>
                    </a:lnTo>
                    <a:lnTo>
                      <a:pt x="0" y="3238500"/>
                    </a:lnTo>
                    <a:close/>
                  </a:path>
                </a:pathLst>
              </a:custGeom>
              <a:solidFill>
                <a:srgbClr val="102B4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6858000" cy="327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1" id="31"/>
            <p:cNvGrpSpPr/>
            <p:nvPr/>
          </p:nvGrpSpPr>
          <p:grpSpPr>
            <a:xfrm rot="0">
              <a:off x="0" y="0"/>
              <a:ext cx="101600" cy="3238500"/>
              <a:chOff x="0" y="0"/>
              <a:chExt cx="101600" cy="32385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101600" cy="3238500"/>
              </a:xfrm>
              <a:custGeom>
                <a:avLst/>
                <a:gdLst/>
                <a:ahLst/>
                <a:cxnLst/>
                <a:rect r="r" b="b" t="t" l="l"/>
                <a:pathLst>
                  <a:path h="32385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3238500"/>
                    </a:lnTo>
                    <a:lnTo>
                      <a:pt x="0" y="3238500"/>
                    </a:lnTo>
                    <a:close/>
                  </a:path>
                </a:pathLst>
              </a:custGeom>
              <a:solidFill>
                <a:srgbClr val="20E0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101600" cy="327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444500" y="533400"/>
              <a:ext cx="635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231" b="true">
                  <a:solidFill>
                    <a:srgbClr val="20E0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WATER QUALITY INTELLIGENCE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444500" y="1314450"/>
              <a:ext cx="6350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en-US" sz="2250">
                  <a:solidFill>
                    <a:srgbClr val="F4FB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Detect abnormal quality patterns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857250" y="6096000"/>
            <a:ext cx="5143500" cy="2428875"/>
            <a:chOff x="0" y="0"/>
            <a:chExt cx="6858000" cy="3238500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6858000" cy="3238500"/>
              <a:chOff x="0" y="0"/>
              <a:chExt cx="6858000" cy="32385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6858000" cy="3238500"/>
              </a:xfrm>
              <a:custGeom>
                <a:avLst/>
                <a:gdLst/>
                <a:ahLst/>
                <a:cxnLst/>
                <a:rect r="r" b="b" t="t" l="l"/>
                <a:pathLst>
                  <a:path h="32385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238500"/>
                    </a:lnTo>
                    <a:lnTo>
                      <a:pt x="0" y="3238500"/>
                    </a:lnTo>
                    <a:close/>
                  </a:path>
                </a:pathLst>
              </a:custGeom>
              <a:solidFill>
                <a:srgbClr val="0D203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6858000" cy="327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0" id="40"/>
            <p:cNvGrpSpPr/>
            <p:nvPr/>
          </p:nvGrpSpPr>
          <p:grpSpPr>
            <a:xfrm rot="0">
              <a:off x="0" y="0"/>
              <a:ext cx="101600" cy="3238500"/>
              <a:chOff x="0" y="0"/>
              <a:chExt cx="101600" cy="32385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101600" cy="3238500"/>
              </a:xfrm>
              <a:custGeom>
                <a:avLst/>
                <a:gdLst/>
                <a:ahLst/>
                <a:cxnLst/>
                <a:rect r="r" b="b" t="t" l="l"/>
                <a:pathLst>
                  <a:path h="32385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3238500"/>
                    </a:lnTo>
                    <a:lnTo>
                      <a:pt x="0" y="3238500"/>
                    </a:lnTo>
                    <a:close/>
                  </a:path>
                </a:pathLst>
              </a:custGeom>
              <a:solidFill>
                <a:srgbClr val="20E0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38100"/>
                <a:ext cx="101600" cy="327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3" id="43"/>
            <p:cNvSpPr txBox="true"/>
            <p:nvPr/>
          </p:nvSpPr>
          <p:spPr>
            <a:xfrm rot="0">
              <a:off x="444500" y="533400"/>
              <a:ext cx="635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231" b="true">
                  <a:solidFill>
                    <a:srgbClr val="20E0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LOCATION-AWARE RESPONSE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444500" y="1314450"/>
              <a:ext cx="6350000" cy="971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en-US" sz="2250">
                  <a:solidFill>
                    <a:srgbClr val="F4FB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Connect incidents with geographic risk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6572250" y="6096000"/>
            <a:ext cx="5143500" cy="2428875"/>
            <a:chOff x="0" y="0"/>
            <a:chExt cx="6858000" cy="3238500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6858000" cy="3238500"/>
              <a:chOff x="0" y="0"/>
              <a:chExt cx="6858000" cy="32385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6858000" cy="3238500"/>
              </a:xfrm>
              <a:custGeom>
                <a:avLst/>
                <a:gdLst/>
                <a:ahLst/>
                <a:cxnLst/>
                <a:rect r="r" b="b" t="t" l="l"/>
                <a:pathLst>
                  <a:path h="32385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238500"/>
                    </a:lnTo>
                    <a:lnTo>
                      <a:pt x="0" y="3238500"/>
                    </a:lnTo>
                    <a:close/>
                  </a:path>
                </a:pathLst>
              </a:custGeom>
              <a:solidFill>
                <a:srgbClr val="102B4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6858000" cy="327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0" y="0"/>
              <a:ext cx="101600" cy="3238500"/>
              <a:chOff x="0" y="0"/>
              <a:chExt cx="101600" cy="32385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101600" cy="3238500"/>
              </a:xfrm>
              <a:custGeom>
                <a:avLst/>
                <a:gdLst/>
                <a:ahLst/>
                <a:cxnLst/>
                <a:rect r="r" b="b" t="t" l="l"/>
                <a:pathLst>
                  <a:path h="32385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3238500"/>
                    </a:lnTo>
                    <a:lnTo>
                      <a:pt x="0" y="3238500"/>
                    </a:lnTo>
                    <a:close/>
                  </a:path>
                </a:pathLst>
              </a:custGeom>
              <a:solidFill>
                <a:srgbClr val="20E0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101600" cy="327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444500" y="533400"/>
              <a:ext cx="635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231" b="true">
                  <a:solidFill>
                    <a:srgbClr val="20E0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SMARTER MAINTENANCE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444500" y="1314450"/>
              <a:ext cx="6350000" cy="4762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en-US" sz="2250">
                  <a:solidFill>
                    <a:srgbClr val="F4FB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Support data-driven prioritization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287250" y="6096000"/>
            <a:ext cx="5143500" cy="2428875"/>
            <a:chOff x="0" y="0"/>
            <a:chExt cx="6858000" cy="3238500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0" y="0"/>
              <a:ext cx="6858000" cy="3238500"/>
              <a:chOff x="0" y="0"/>
              <a:chExt cx="6858000" cy="3238500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6858000" cy="3238500"/>
              </a:xfrm>
              <a:custGeom>
                <a:avLst/>
                <a:gdLst/>
                <a:ahLst/>
                <a:cxnLst/>
                <a:rect r="r" b="b" t="t" l="l"/>
                <a:pathLst>
                  <a:path h="3238500" w="6858000">
                    <a:moveTo>
                      <a:pt x="0" y="0"/>
                    </a:moveTo>
                    <a:lnTo>
                      <a:pt x="6858000" y="0"/>
                    </a:lnTo>
                    <a:lnTo>
                      <a:pt x="6858000" y="3238500"/>
                    </a:lnTo>
                    <a:lnTo>
                      <a:pt x="0" y="3238500"/>
                    </a:lnTo>
                    <a:close/>
                  </a:path>
                </a:pathLst>
              </a:custGeom>
              <a:solidFill>
                <a:srgbClr val="0D203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38100"/>
                <a:ext cx="6858000" cy="327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58" id="58"/>
            <p:cNvGrpSpPr/>
            <p:nvPr/>
          </p:nvGrpSpPr>
          <p:grpSpPr>
            <a:xfrm rot="0">
              <a:off x="0" y="0"/>
              <a:ext cx="101600" cy="3238500"/>
              <a:chOff x="0" y="0"/>
              <a:chExt cx="101600" cy="3238500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101600" cy="3238500"/>
              </a:xfrm>
              <a:custGeom>
                <a:avLst/>
                <a:gdLst/>
                <a:ahLst/>
                <a:cxnLst/>
                <a:rect r="r" b="b" t="t" l="l"/>
                <a:pathLst>
                  <a:path h="3238500" w="101600">
                    <a:moveTo>
                      <a:pt x="0" y="0"/>
                    </a:moveTo>
                    <a:lnTo>
                      <a:pt x="101600" y="0"/>
                    </a:lnTo>
                    <a:lnTo>
                      <a:pt x="101600" y="3238500"/>
                    </a:lnTo>
                    <a:lnTo>
                      <a:pt x="0" y="3238500"/>
                    </a:lnTo>
                    <a:close/>
                  </a:path>
                </a:pathLst>
              </a:custGeom>
              <a:solidFill>
                <a:srgbClr val="20E0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0" y="-38100"/>
                <a:ext cx="101600" cy="327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1" id="61"/>
            <p:cNvSpPr txBox="true"/>
            <p:nvPr/>
          </p:nvSpPr>
          <p:spPr>
            <a:xfrm rot="0">
              <a:off x="444500" y="533400"/>
              <a:ext cx="6350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231" b="true">
                  <a:solidFill>
                    <a:srgbClr val="20E0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SMARTER CITIES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444500" y="1314450"/>
              <a:ext cx="6350000" cy="971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en-US" sz="2250">
                  <a:solidFill>
                    <a:srgbClr val="F4FB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Advance intelligent network management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8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33400"/>
            <a:ext cx="14287500" cy="1073468"/>
            <a:chOff x="0" y="0"/>
            <a:chExt cx="19050000" cy="143129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28575"/>
              <a:ext cx="7620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89" b="true">
                  <a:solidFill>
                    <a:srgbClr val="20E0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FLOWGEN  /  11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25475"/>
              <a:ext cx="19050000" cy="805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567"/>
                </a:lnSpc>
              </a:pPr>
              <a:r>
                <a:rPr lang="en-US" sz="4350" b="true">
                  <a:solidFill>
                    <a:srgbClr val="F4FB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More Than Leak Detection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0"/>
            <a:ext cx="18288000" cy="66675"/>
            <a:chOff x="0" y="0"/>
            <a:chExt cx="24384000" cy="88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88900"/>
            </a:xfrm>
            <a:custGeom>
              <a:avLst/>
              <a:gdLst/>
              <a:ahLst/>
              <a:cxnLst/>
              <a:rect r="r" b="b" t="t" l="l"/>
              <a:pathLst>
                <a:path h="889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20E0FF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4384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52500" y="2524125"/>
            <a:ext cx="7239000" cy="4000500"/>
            <a:chOff x="0" y="0"/>
            <a:chExt cx="9652000" cy="5334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9652000" cy="5334000"/>
              <a:chOff x="0" y="0"/>
              <a:chExt cx="9652000" cy="5334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6520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0D203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96520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254000" y="279400"/>
              <a:ext cx="8890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spc="241" b="true">
                  <a:solidFill>
                    <a:srgbClr val="20E0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TRADITIONAL APPROACH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635000" y="1177925"/>
              <a:ext cx="8255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4FB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—  Periodic monitoring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635000" y="2003425"/>
              <a:ext cx="8255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4FB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—  Individual sensor readings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635000" y="2828925"/>
              <a:ext cx="8255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4FB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—  Manual investigation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635000" y="3654425"/>
              <a:ext cx="8255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4FB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—  Reactive response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35000" y="4479925"/>
              <a:ext cx="8255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4FB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—  Disconnected information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525000" y="2524125"/>
            <a:ext cx="7239000" cy="4000500"/>
            <a:chOff x="0" y="0"/>
            <a:chExt cx="9652000" cy="53340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9652000" cy="5334000"/>
              <a:chOff x="0" y="0"/>
              <a:chExt cx="9652000" cy="5334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9652000" cy="5334000"/>
              </a:xfrm>
              <a:custGeom>
                <a:avLst/>
                <a:gdLst/>
                <a:ahLst/>
                <a:cxnLst/>
                <a:rect r="r" b="b" t="t" l="l"/>
                <a:pathLst>
                  <a:path h="5334000" w="9652000">
                    <a:moveTo>
                      <a:pt x="0" y="0"/>
                    </a:moveTo>
                    <a:lnTo>
                      <a:pt x="9652000" y="0"/>
                    </a:lnTo>
                    <a:lnTo>
                      <a:pt x="9652000" y="5334000"/>
                    </a:lnTo>
                    <a:lnTo>
                      <a:pt x="0" y="5334000"/>
                    </a:lnTo>
                    <a:close/>
                  </a:path>
                </a:pathLst>
              </a:custGeom>
              <a:solidFill>
                <a:srgbClr val="102B4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9652000" cy="5372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254000" y="279400"/>
              <a:ext cx="8890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15"/>
                </a:lnSpc>
              </a:pPr>
              <a:r>
                <a:rPr lang="en-US" sz="1725" spc="241" b="true">
                  <a:solidFill>
                    <a:srgbClr val="20E0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FLOWGEN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635000" y="1177925"/>
              <a:ext cx="8255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4FB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+  Continuous monitoring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635000" y="1914525"/>
              <a:ext cx="8255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4FB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+  Multi-signal analysis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635000" y="2651125"/>
              <a:ext cx="8255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4FB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+  AI-assisted investigation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635000" y="3387725"/>
              <a:ext cx="8255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4FB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+  Predictive risk analysis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635000" y="4124325"/>
              <a:ext cx="8255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4FB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+  Unified intelligence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635000" y="4860925"/>
              <a:ext cx="8255000" cy="438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32"/>
                </a:lnSpc>
              </a:pPr>
              <a:r>
                <a:rPr lang="en-US" sz="2025">
                  <a:solidFill>
                    <a:srgbClr val="F4FB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+  Location-aware alerts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4572000" y="7372350"/>
            <a:ext cx="9144000" cy="63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400" b="true">
                <a:solidFill>
                  <a:srgbClr val="F4FB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Flowgen connects infrastructure health and water quality into one intelligent decision system.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52500" y="8286750"/>
            <a:ext cx="16764000" cy="28575"/>
            <a:chOff x="0" y="0"/>
            <a:chExt cx="22352000" cy="381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352000" cy="38100"/>
            </a:xfrm>
            <a:custGeom>
              <a:avLst/>
              <a:gdLst/>
              <a:ahLst/>
              <a:cxnLst/>
              <a:rect r="r" b="b" t="t" l="l"/>
              <a:pathLst>
                <a:path h="38100" w="22352000">
                  <a:moveTo>
                    <a:pt x="0" y="0"/>
                  </a:moveTo>
                  <a:lnTo>
                    <a:pt x="22352000" y="0"/>
                  </a:lnTo>
                  <a:lnTo>
                    <a:pt x="22352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0E0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22352000" cy="76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143000" y="8505825"/>
            <a:ext cx="160020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800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FUTURE POTENTIAL  •  Wider sensor deployment  •  Advanced predictive models  •  Automated emergency workflows  •  Municipal-system integration  •  Smart-city expansion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6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6101F">
                <a:alpha val="6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771525"/>
            <a:ext cx="8572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spc="315" b="true">
                <a:solidFill>
                  <a:srgbClr val="20E0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FLOWGEN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1400175"/>
            <a:ext cx="11430000" cy="45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05"/>
              </a:lnSpc>
            </a:pPr>
            <a:r>
              <a:rPr lang="en-US" sz="2850">
                <a:solidFill>
                  <a:srgbClr val="F4FB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AI-powered protection for every drop.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4400" y="2667000"/>
            <a:ext cx="1905000" cy="66675"/>
            <a:chOff x="0" y="0"/>
            <a:chExt cx="2540000" cy="889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40000" cy="88900"/>
            </a:xfrm>
            <a:custGeom>
              <a:avLst/>
              <a:gdLst/>
              <a:ahLst/>
              <a:cxnLst/>
              <a:rect r="r" b="b" t="t" l="l"/>
              <a:pathLst>
                <a:path h="88900" w="2540000">
                  <a:moveTo>
                    <a:pt x="0" y="0"/>
                  </a:moveTo>
                  <a:lnTo>
                    <a:pt x="2540000" y="0"/>
                  </a:lnTo>
                  <a:lnTo>
                    <a:pt x="2540000" y="88900"/>
                  </a:lnTo>
                  <a:lnTo>
                    <a:pt x="0" y="88900"/>
                  </a:lnTo>
                  <a:close/>
                </a:path>
              </a:pathLst>
            </a:custGeom>
            <a:solidFill>
              <a:srgbClr val="20E0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540000" cy="1270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4400" y="3314700"/>
            <a:ext cx="14287500" cy="2726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F4FB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DETECT THE HIDDEN.</a:t>
            </a:r>
          </a:p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F4FB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UNDERSTAND THE RISK.</a:t>
            </a:r>
          </a:p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F4FB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PROTECT THE NETWORK.</a:t>
            </a:r>
          </a:p>
          <a:p>
            <a:pPr algn="l">
              <a:lnSpc>
                <a:spcPts val="5355"/>
              </a:lnSpc>
            </a:pPr>
            <a:r>
              <a:rPr lang="en-US" sz="5100" b="true">
                <a:solidFill>
                  <a:srgbClr val="F4FB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PROTECT THE PEOPLE.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8686800"/>
            <a:ext cx="952500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10" b="true">
                <a:solidFill>
                  <a:srgbClr val="20E0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SENSOR DATA  →  AI  →  INTELLIGENCE  →  ACTION</a:t>
            </a:r>
          </a:p>
          <a:p>
            <a:pPr algn="l">
              <a:lnSpc>
                <a:spcPts val="2100"/>
              </a:lnSpc>
            </a:pPr>
            <a:r>
              <a:rPr lang="en-US" sz="1500" spc="210" b="true">
                <a:solidFill>
                  <a:srgbClr val="20E0FF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IBM Bob AI Hackathon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DAHVSQnCtxo</dc:identifier>
  <dcterms:modified xsi:type="dcterms:W3CDTF">2011-08-01T06:04:30Z</dcterms:modified>
  <cp:revision>1</cp:revision>
  <dc:title>FLOWGEN Hackathon Pitch</dc:title>
</cp:coreProperties>
</file>